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nva Sans Bold" panose="020B0604020202020204" charset="0"/>
      <p:regular r:id="rId14"/>
    </p:embeddedFont>
    <p:embeddedFont>
      <p:font typeface="Gotham Bold" panose="020B0604020202020204" charset="0"/>
      <p:regular r:id="rId15"/>
    </p:embeddedFont>
    <p:embeddedFont>
      <p:font typeface="Calibri" panose="020F0502020204030204" pitchFamily="34" charset="0"/>
      <p:regular r:id="rId16"/>
      <p:bold r:id="rId17"/>
      <p:italic r:id="rId18"/>
      <p:boldItalic r:id="rId19"/>
    </p:embeddedFont>
    <p:embeddedFont>
      <p:font typeface="Times New Roman Condensed Italics" panose="020B0604020202020204" charset="0"/>
      <p:regular r:id="rId20"/>
    </p:embeddedFont>
    <p:embeddedFont>
      <p:font typeface="Gotham"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4" d="100"/>
          <a:sy n="64" d="100"/>
        </p:scale>
        <p:origin x="171" y="5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07269"/>
            <a:ext cx="15887700" cy="1992892"/>
            <a:chOff x="0" y="-28575"/>
            <a:chExt cx="21183600" cy="2657189"/>
          </a:xfrm>
        </p:grpSpPr>
        <p:sp>
          <p:nvSpPr>
            <p:cNvPr id="3" name="Freeform 3"/>
            <p:cNvSpPr/>
            <p:nvPr/>
          </p:nvSpPr>
          <p:spPr>
            <a:xfrm>
              <a:off x="0" y="0"/>
              <a:ext cx="19109134" cy="2628614"/>
            </a:xfrm>
            <a:custGeom>
              <a:avLst/>
              <a:gdLst/>
              <a:ahLst/>
              <a:cxnLst/>
              <a:rect l="l" t="t" r="r" b="b"/>
              <a:pathLst>
                <a:path w="19109134" h="2628614">
                  <a:moveTo>
                    <a:pt x="0" y="0"/>
                  </a:moveTo>
                  <a:lnTo>
                    <a:pt x="19109134" y="0"/>
                  </a:lnTo>
                  <a:lnTo>
                    <a:pt x="19109134" y="2628614"/>
                  </a:lnTo>
                  <a:lnTo>
                    <a:pt x="0" y="2628614"/>
                  </a:lnTo>
                  <a:close/>
                </a:path>
              </a:pathLst>
            </a:custGeom>
            <a:solidFill>
              <a:srgbClr val="000000">
                <a:alpha val="0"/>
              </a:srgbClr>
            </a:solidFill>
          </p:spPr>
        </p:sp>
        <p:sp>
          <p:nvSpPr>
            <p:cNvPr id="4" name="TextBox 4"/>
            <p:cNvSpPr txBox="1"/>
            <p:nvPr/>
          </p:nvSpPr>
          <p:spPr>
            <a:xfrm>
              <a:off x="0" y="-28575"/>
              <a:ext cx="21183600" cy="2657189"/>
            </a:xfrm>
            <a:prstGeom prst="rect">
              <a:avLst/>
            </a:prstGeom>
          </p:spPr>
          <p:txBody>
            <a:bodyPr lIns="0" tIns="0" rIns="0" bIns="0" rtlCol="0" anchor="t"/>
            <a:lstStyle/>
            <a:p>
              <a:pPr algn="l">
                <a:lnSpc>
                  <a:spcPts val="6937"/>
                </a:lnSpc>
              </a:pPr>
              <a:r>
                <a:rPr lang="en-US" sz="5562" b="1" dirty="0">
                  <a:solidFill>
                    <a:srgbClr val="0E4714"/>
                  </a:solidFill>
                  <a:latin typeface="Gotham Bold"/>
                  <a:ea typeface="Gotham Bold"/>
                  <a:cs typeface="Gotham Bold"/>
                  <a:sym typeface="Gotham Bold"/>
                </a:rPr>
                <a:t>Kubernetes Failure Prediction Application</a:t>
              </a:r>
            </a:p>
          </p:txBody>
        </p:sp>
      </p:grpSp>
      <p:grpSp>
        <p:nvGrpSpPr>
          <p:cNvPr id="5" name="Group 5"/>
          <p:cNvGrpSpPr/>
          <p:nvPr/>
        </p:nvGrpSpPr>
        <p:grpSpPr>
          <a:xfrm>
            <a:off x="1047438" y="3624458"/>
            <a:ext cx="16303526" cy="2218492"/>
            <a:chOff x="0" y="0"/>
            <a:chExt cx="21738035" cy="2957989"/>
          </a:xfrm>
        </p:grpSpPr>
        <p:sp>
          <p:nvSpPr>
            <p:cNvPr id="6" name="Freeform 6"/>
            <p:cNvSpPr/>
            <p:nvPr/>
          </p:nvSpPr>
          <p:spPr>
            <a:xfrm>
              <a:off x="0" y="0"/>
              <a:ext cx="21738034" cy="2957989"/>
            </a:xfrm>
            <a:custGeom>
              <a:avLst/>
              <a:gdLst/>
              <a:ahLst/>
              <a:cxnLst/>
              <a:rect l="l" t="t" r="r" b="b"/>
              <a:pathLst>
                <a:path w="21738034" h="2957989">
                  <a:moveTo>
                    <a:pt x="0" y="0"/>
                  </a:moveTo>
                  <a:lnTo>
                    <a:pt x="21738034" y="0"/>
                  </a:lnTo>
                  <a:lnTo>
                    <a:pt x="21738034" y="2957989"/>
                  </a:lnTo>
                  <a:lnTo>
                    <a:pt x="0" y="2957989"/>
                  </a:lnTo>
                  <a:close/>
                </a:path>
              </a:pathLst>
            </a:custGeom>
            <a:solidFill>
              <a:srgbClr val="000000">
                <a:alpha val="0"/>
              </a:srgbClr>
            </a:solidFill>
          </p:spPr>
        </p:sp>
        <p:sp>
          <p:nvSpPr>
            <p:cNvPr id="7" name="TextBox 7"/>
            <p:cNvSpPr txBox="1"/>
            <p:nvPr/>
          </p:nvSpPr>
          <p:spPr>
            <a:xfrm>
              <a:off x="0" y="-95250"/>
              <a:ext cx="21738035" cy="3053239"/>
            </a:xfrm>
            <a:prstGeom prst="rect">
              <a:avLst/>
            </a:prstGeom>
          </p:spPr>
          <p:txBody>
            <a:bodyPr lIns="0" tIns="0" rIns="0" bIns="0" rtlCol="0" anchor="t"/>
            <a:lstStyle/>
            <a:p>
              <a:pPr marL="342900" indent="-342900" algn="l">
                <a:lnSpc>
                  <a:spcPts val="3562"/>
                </a:lnSpc>
                <a:buFont typeface="Arial" panose="020B0604020202020204" pitchFamily="34" charset="0"/>
                <a:buChar char="•"/>
              </a:pPr>
              <a:r>
                <a:rPr lang="en-US" sz="2187" spc="-32" dirty="0">
                  <a:solidFill>
                    <a:srgbClr val="0E4714"/>
                  </a:solidFill>
                  <a:latin typeface="Gotham"/>
                  <a:ea typeface="Gotham"/>
                  <a:cs typeface="Gotham"/>
                  <a:sym typeface="Gotham"/>
                </a:rPr>
                <a:t>The Kubernetes Failure Prediction Application is a </a:t>
              </a:r>
              <a:r>
                <a:rPr lang="en-US" sz="2187" spc="-32" dirty="0" err="1">
                  <a:solidFill>
                    <a:srgbClr val="0E4714"/>
                  </a:solidFill>
                  <a:latin typeface="Gotham"/>
                  <a:ea typeface="Gotham"/>
                  <a:cs typeface="Gotham"/>
                  <a:sym typeface="Gotham"/>
                </a:rPr>
                <a:t>Streamlit</a:t>
              </a:r>
              <a:r>
                <a:rPr lang="en-US" sz="2187" spc="-32" dirty="0">
                  <a:solidFill>
                    <a:srgbClr val="0E4714"/>
                  </a:solidFill>
                  <a:latin typeface="Gotham"/>
                  <a:ea typeface="Gotham"/>
                  <a:cs typeface="Gotham"/>
                  <a:sym typeface="Gotham"/>
                </a:rPr>
                <a:t>-based machine learning application that predicts failures in Kubernetes clusters by analyzing historical metrics data. </a:t>
              </a:r>
              <a:endParaRPr lang="en-US" sz="2187" spc="-32" dirty="0" smtClean="0">
                <a:solidFill>
                  <a:srgbClr val="0E4714"/>
                </a:solidFill>
                <a:latin typeface="Gotham"/>
                <a:ea typeface="Gotham"/>
                <a:cs typeface="Gotham"/>
                <a:sym typeface="Gotham"/>
              </a:endParaRPr>
            </a:p>
            <a:p>
              <a:pPr marL="342900" indent="-342900" algn="l">
                <a:lnSpc>
                  <a:spcPts val="3562"/>
                </a:lnSpc>
                <a:buFont typeface="Arial" panose="020B0604020202020204" pitchFamily="34" charset="0"/>
                <a:buChar char="•"/>
              </a:pPr>
              <a:endParaRPr lang="en-US" sz="2187" spc="-32" dirty="0" smtClean="0">
                <a:solidFill>
                  <a:srgbClr val="0E4714"/>
                </a:solidFill>
                <a:latin typeface="Gotham"/>
                <a:ea typeface="Gotham"/>
                <a:cs typeface="Gotham"/>
                <a:sym typeface="Gotham"/>
              </a:endParaRPr>
            </a:p>
            <a:p>
              <a:pPr marL="342900" indent="-342900" algn="l">
                <a:lnSpc>
                  <a:spcPts val="3562"/>
                </a:lnSpc>
                <a:buFont typeface="Arial" panose="020B0604020202020204" pitchFamily="34" charset="0"/>
                <a:buChar char="•"/>
              </a:pPr>
              <a:r>
                <a:rPr lang="en-US" sz="2187" spc="-32" dirty="0" smtClean="0">
                  <a:solidFill>
                    <a:srgbClr val="0E4714"/>
                  </a:solidFill>
                  <a:latin typeface="Gotham"/>
                  <a:ea typeface="Gotham"/>
                  <a:cs typeface="Gotham"/>
                  <a:sym typeface="Gotham"/>
                </a:rPr>
                <a:t>This </a:t>
              </a:r>
              <a:r>
                <a:rPr lang="en-US" sz="2187" spc="-32" dirty="0">
                  <a:solidFill>
                    <a:srgbClr val="0E4714"/>
                  </a:solidFill>
                  <a:latin typeface="Gotham"/>
                  <a:ea typeface="Gotham"/>
                  <a:cs typeface="Gotham"/>
                  <a:sym typeface="Gotham"/>
                </a:rPr>
                <a:t>tool empowers DevOps teams to proactively identify potential node crashes, resource exhaustion, and other common failure scenarios before they impact production systems. Built on the principle of proactive maintenance, it aims to shift from reactive troubleshooting to predictive issue resolution.</a:t>
              </a:r>
            </a:p>
          </p:txBody>
        </p:sp>
      </p:grpSp>
      <p:grpSp>
        <p:nvGrpSpPr>
          <p:cNvPr id="8" name="Group 8"/>
          <p:cNvGrpSpPr/>
          <p:nvPr/>
        </p:nvGrpSpPr>
        <p:grpSpPr>
          <a:xfrm>
            <a:off x="987475" y="6601739"/>
            <a:ext cx="16535102" cy="2289930"/>
            <a:chOff x="-308769" y="-81093"/>
            <a:chExt cx="22046803" cy="3053240"/>
          </a:xfrm>
        </p:grpSpPr>
        <p:sp>
          <p:nvSpPr>
            <p:cNvPr id="9" name="Freeform 9"/>
            <p:cNvSpPr/>
            <p:nvPr/>
          </p:nvSpPr>
          <p:spPr>
            <a:xfrm>
              <a:off x="0" y="0"/>
              <a:ext cx="21738034" cy="2957989"/>
            </a:xfrm>
            <a:custGeom>
              <a:avLst/>
              <a:gdLst/>
              <a:ahLst/>
              <a:cxnLst/>
              <a:rect l="l" t="t" r="r" b="b"/>
              <a:pathLst>
                <a:path w="21738034" h="2957989">
                  <a:moveTo>
                    <a:pt x="0" y="0"/>
                  </a:moveTo>
                  <a:lnTo>
                    <a:pt x="21738034" y="0"/>
                  </a:lnTo>
                  <a:lnTo>
                    <a:pt x="21738034" y="2957989"/>
                  </a:lnTo>
                  <a:lnTo>
                    <a:pt x="0" y="2957989"/>
                  </a:lnTo>
                  <a:close/>
                </a:path>
              </a:pathLst>
            </a:custGeom>
            <a:solidFill>
              <a:srgbClr val="000000">
                <a:alpha val="0"/>
              </a:srgbClr>
            </a:solidFill>
          </p:spPr>
        </p:sp>
        <p:sp>
          <p:nvSpPr>
            <p:cNvPr id="10" name="TextBox 10"/>
            <p:cNvSpPr txBox="1"/>
            <p:nvPr/>
          </p:nvSpPr>
          <p:spPr>
            <a:xfrm>
              <a:off x="-308769" y="-81093"/>
              <a:ext cx="21738035" cy="3053240"/>
            </a:xfrm>
            <a:prstGeom prst="rect">
              <a:avLst/>
            </a:prstGeom>
          </p:spPr>
          <p:txBody>
            <a:bodyPr lIns="0" tIns="0" rIns="0" bIns="0" rtlCol="0" anchor="t"/>
            <a:lstStyle/>
            <a:p>
              <a:pPr marL="342900" indent="-342900" algn="l">
                <a:lnSpc>
                  <a:spcPts val="3562"/>
                </a:lnSpc>
                <a:buFont typeface="Arial" panose="020B0604020202020204" pitchFamily="34" charset="0"/>
                <a:buChar char="•"/>
              </a:pPr>
              <a:r>
                <a:rPr lang="en-US" sz="2187" spc="-32" dirty="0">
                  <a:solidFill>
                    <a:srgbClr val="0E4714"/>
                  </a:solidFill>
                  <a:latin typeface="Gotham"/>
                  <a:ea typeface="Gotham"/>
                  <a:cs typeface="Gotham"/>
                  <a:sym typeface="Gotham"/>
                </a:rPr>
                <a:t>The application leverages a multi-model intelligence approach, combining classification, anomaly detection, and time series forecasting for a comprehensive understanding of system health. Explainable AI ensures clear rationales behind predictions, highlighting critical metrics and enabling targeted remediation. </a:t>
              </a:r>
              <a:endParaRPr lang="en-US" sz="2187" spc="-32" dirty="0" smtClean="0">
                <a:solidFill>
                  <a:srgbClr val="0E4714"/>
                </a:solidFill>
                <a:latin typeface="Gotham"/>
                <a:ea typeface="Gotham"/>
                <a:cs typeface="Gotham"/>
                <a:sym typeface="Gotham"/>
              </a:endParaRPr>
            </a:p>
            <a:p>
              <a:pPr marL="342900" indent="-342900" algn="l">
                <a:lnSpc>
                  <a:spcPts val="3562"/>
                </a:lnSpc>
                <a:buFont typeface="Arial" panose="020B0604020202020204" pitchFamily="34" charset="0"/>
                <a:buChar char="•"/>
              </a:pPr>
              <a:endParaRPr lang="en-US" sz="2187" spc="-32" dirty="0" smtClean="0">
                <a:solidFill>
                  <a:srgbClr val="0E4714"/>
                </a:solidFill>
                <a:latin typeface="Gotham"/>
                <a:ea typeface="Gotham"/>
                <a:cs typeface="Gotham"/>
                <a:sym typeface="Gotham"/>
              </a:endParaRPr>
            </a:p>
            <a:p>
              <a:pPr marL="342900" indent="-342900" algn="l">
                <a:lnSpc>
                  <a:spcPts val="3562"/>
                </a:lnSpc>
                <a:buFont typeface="Arial" panose="020B0604020202020204" pitchFamily="34" charset="0"/>
                <a:buChar char="•"/>
              </a:pPr>
              <a:r>
                <a:rPr lang="en-US" sz="2187" spc="-32" dirty="0" smtClean="0">
                  <a:solidFill>
                    <a:srgbClr val="0E4714"/>
                  </a:solidFill>
                  <a:latin typeface="Gotham"/>
                  <a:ea typeface="Gotham"/>
                  <a:cs typeface="Gotham"/>
                  <a:sym typeface="Gotham"/>
                </a:rPr>
                <a:t>Designed </a:t>
              </a:r>
              <a:r>
                <a:rPr lang="en-US" sz="2187" spc="-32" dirty="0">
                  <a:solidFill>
                    <a:srgbClr val="0E4714"/>
                  </a:solidFill>
                  <a:latin typeface="Gotham"/>
                  <a:ea typeface="Gotham"/>
                  <a:cs typeface="Gotham"/>
                  <a:sym typeface="Gotham"/>
                </a:rPr>
                <a:t>for continuous learning, the application adapts to evolving Kubernetes environments, refining its models to changing workloads and infrastructure patterns.</a:t>
              </a:r>
            </a:p>
          </p:txBody>
        </p:sp>
      </p:grpSp>
      <p:grpSp>
        <p:nvGrpSpPr>
          <p:cNvPr id="11" name="Group 11"/>
          <p:cNvGrpSpPr/>
          <p:nvPr/>
        </p:nvGrpSpPr>
        <p:grpSpPr>
          <a:xfrm>
            <a:off x="987475" y="7771805"/>
            <a:ext cx="463154" cy="463154"/>
            <a:chOff x="0" y="0"/>
            <a:chExt cx="617538" cy="617538"/>
          </a:xfrm>
        </p:grpSpPr>
        <p:sp>
          <p:nvSpPr>
            <p:cNvPr id="12" name="Freeform 12"/>
            <p:cNvSpPr/>
            <p:nvPr/>
          </p:nvSpPr>
          <p:spPr>
            <a:xfrm>
              <a:off x="0" y="0"/>
              <a:ext cx="617601" cy="617601"/>
            </a:xfrm>
            <a:custGeom>
              <a:avLst/>
              <a:gdLst/>
              <a:ahLst/>
              <a:cxnLst/>
              <a:rect l="l" t="t" r="r" b="b"/>
              <a:pathLst>
                <a:path w="617601" h="617601">
                  <a:moveTo>
                    <a:pt x="0" y="308737"/>
                  </a:moveTo>
                  <a:cubicBezTo>
                    <a:pt x="0" y="138303"/>
                    <a:pt x="138303" y="0"/>
                    <a:pt x="308737" y="0"/>
                  </a:cubicBezTo>
                  <a:cubicBezTo>
                    <a:pt x="310642" y="0"/>
                    <a:pt x="312547" y="889"/>
                    <a:pt x="313690" y="2413"/>
                  </a:cubicBezTo>
                  <a:lnTo>
                    <a:pt x="308737" y="6350"/>
                  </a:lnTo>
                  <a:lnTo>
                    <a:pt x="308737" y="0"/>
                  </a:lnTo>
                  <a:lnTo>
                    <a:pt x="308737" y="6350"/>
                  </a:lnTo>
                  <a:lnTo>
                    <a:pt x="308737" y="0"/>
                  </a:lnTo>
                  <a:cubicBezTo>
                    <a:pt x="479298" y="0"/>
                    <a:pt x="617601" y="138303"/>
                    <a:pt x="617601" y="308737"/>
                  </a:cubicBezTo>
                  <a:cubicBezTo>
                    <a:pt x="617601" y="311150"/>
                    <a:pt x="616204" y="313309"/>
                    <a:pt x="614045" y="314452"/>
                  </a:cubicBezTo>
                  <a:lnTo>
                    <a:pt x="611251" y="308737"/>
                  </a:lnTo>
                  <a:lnTo>
                    <a:pt x="617601" y="308737"/>
                  </a:lnTo>
                  <a:cubicBezTo>
                    <a:pt x="617601" y="479298"/>
                    <a:pt x="479298" y="617474"/>
                    <a:pt x="308864" y="617474"/>
                  </a:cubicBezTo>
                  <a:lnTo>
                    <a:pt x="308864" y="611124"/>
                  </a:lnTo>
                  <a:lnTo>
                    <a:pt x="308864" y="604774"/>
                  </a:lnTo>
                  <a:lnTo>
                    <a:pt x="308864" y="611124"/>
                  </a:lnTo>
                  <a:lnTo>
                    <a:pt x="308864" y="617474"/>
                  </a:lnTo>
                  <a:cubicBezTo>
                    <a:pt x="138303" y="617601"/>
                    <a:pt x="0" y="479298"/>
                    <a:pt x="0" y="308737"/>
                  </a:cubicBezTo>
                  <a:lnTo>
                    <a:pt x="6350" y="308737"/>
                  </a:lnTo>
                  <a:lnTo>
                    <a:pt x="0" y="308737"/>
                  </a:lnTo>
                  <a:moveTo>
                    <a:pt x="12700" y="308737"/>
                  </a:moveTo>
                  <a:lnTo>
                    <a:pt x="6350" y="308737"/>
                  </a:lnTo>
                  <a:lnTo>
                    <a:pt x="12700" y="308737"/>
                  </a:lnTo>
                  <a:cubicBezTo>
                    <a:pt x="12700" y="472313"/>
                    <a:pt x="145288" y="604901"/>
                    <a:pt x="308737" y="604901"/>
                  </a:cubicBezTo>
                  <a:cubicBezTo>
                    <a:pt x="312293" y="604901"/>
                    <a:pt x="315087" y="607695"/>
                    <a:pt x="315087" y="611251"/>
                  </a:cubicBezTo>
                  <a:cubicBezTo>
                    <a:pt x="315087" y="614807"/>
                    <a:pt x="312293" y="617601"/>
                    <a:pt x="308737" y="617601"/>
                  </a:cubicBezTo>
                  <a:cubicBezTo>
                    <a:pt x="305181" y="617601"/>
                    <a:pt x="302387" y="614807"/>
                    <a:pt x="302387" y="611251"/>
                  </a:cubicBezTo>
                  <a:cubicBezTo>
                    <a:pt x="302387" y="607695"/>
                    <a:pt x="305181" y="604901"/>
                    <a:pt x="308737" y="604901"/>
                  </a:cubicBezTo>
                  <a:cubicBezTo>
                    <a:pt x="472313" y="604901"/>
                    <a:pt x="604774" y="472313"/>
                    <a:pt x="604774" y="308864"/>
                  </a:cubicBezTo>
                  <a:cubicBezTo>
                    <a:pt x="604774" y="306451"/>
                    <a:pt x="606171" y="304292"/>
                    <a:pt x="608330" y="303149"/>
                  </a:cubicBezTo>
                  <a:lnTo>
                    <a:pt x="611124" y="308864"/>
                  </a:lnTo>
                  <a:lnTo>
                    <a:pt x="604774" y="308864"/>
                  </a:lnTo>
                  <a:cubicBezTo>
                    <a:pt x="604901" y="145288"/>
                    <a:pt x="472313" y="12700"/>
                    <a:pt x="308737" y="12700"/>
                  </a:cubicBezTo>
                  <a:cubicBezTo>
                    <a:pt x="306832" y="12700"/>
                    <a:pt x="304927" y="11811"/>
                    <a:pt x="303784" y="10287"/>
                  </a:cubicBezTo>
                  <a:lnTo>
                    <a:pt x="308737" y="6350"/>
                  </a:lnTo>
                  <a:lnTo>
                    <a:pt x="308737" y="12700"/>
                  </a:lnTo>
                  <a:cubicBezTo>
                    <a:pt x="145288" y="12700"/>
                    <a:pt x="12700" y="145288"/>
                    <a:pt x="12700" y="308737"/>
                  </a:cubicBezTo>
                  <a:close/>
                </a:path>
              </a:pathLst>
            </a:custGeom>
            <a:solidFill>
              <a:srgbClr val="E9EAE0"/>
            </a:solidFill>
          </p:spPr>
        </p:sp>
      </p:grpSp>
      <p:sp>
        <p:nvSpPr>
          <p:cNvPr id="13" name="TextBox 13"/>
          <p:cNvSpPr txBox="1"/>
          <p:nvPr/>
        </p:nvSpPr>
        <p:spPr>
          <a:xfrm>
            <a:off x="762000" y="2198499"/>
            <a:ext cx="3886348" cy="936154"/>
          </a:xfrm>
          <a:prstGeom prst="rect">
            <a:avLst/>
          </a:prstGeom>
        </p:spPr>
        <p:txBody>
          <a:bodyPr wrap="square" lIns="0" tIns="0" rIns="0" bIns="0" rtlCol="0" anchor="t">
            <a:spAutoFit/>
          </a:bodyPr>
          <a:lstStyle/>
          <a:p>
            <a:pPr algn="ctr">
              <a:lnSpc>
                <a:spcPts val="7279"/>
              </a:lnSpc>
            </a:pPr>
            <a:r>
              <a:rPr lang="en-US" sz="5199" b="1" dirty="0">
                <a:solidFill>
                  <a:srgbClr val="0E4714"/>
                </a:solidFill>
                <a:latin typeface="Canva Sans Bold"/>
                <a:ea typeface="Canva Sans Bold"/>
                <a:cs typeface="Canva Sans Bold"/>
                <a:sym typeface="Canva Sans Bold"/>
              </a:rPr>
              <a:t>IDEOLOGY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992237" y="1665237"/>
            <a:ext cx="16303526" cy="1771947"/>
            <a:chOff x="0" y="0"/>
            <a:chExt cx="21738035" cy="2362597"/>
          </a:xfrm>
        </p:grpSpPr>
        <p:sp>
          <p:nvSpPr>
            <p:cNvPr id="3" name="Freeform 3"/>
            <p:cNvSpPr/>
            <p:nvPr/>
          </p:nvSpPr>
          <p:spPr>
            <a:xfrm>
              <a:off x="0" y="0"/>
              <a:ext cx="21738034" cy="2362597"/>
            </a:xfrm>
            <a:custGeom>
              <a:avLst/>
              <a:gdLst/>
              <a:ahLst/>
              <a:cxnLst/>
              <a:rect l="l" t="t" r="r" b="b"/>
              <a:pathLst>
                <a:path w="21738034" h="2362597">
                  <a:moveTo>
                    <a:pt x="0" y="0"/>
                  </a:moveTo>
                  <a:lnTo>
                    <a:pt x="21738034" y="0"/>
                  </a:lnTo>
                  <a:lnTo>
                    <a:pt x="21738034" y="2362597"/>
                  </a:lnTo>
                  <a:lnTo>
                    <a:pt x="0" y="2362597"/>
                  </a:lnTo>
                  <a:close/>
                </a:path>
              </a:pathLst>
            </a:custGeom>
            <a:solidFill>
              <a:srgbClr val="000000">
                <a:alpha val="0"/>
              </a:srgbClr>
            </a:solidFill>
          </p:spPr>
        </p:sp>
        <p:sp>
          <p:nvSpPr>
            <p:cNvPr id="4" name="TextBox 4"/>
            <p:cNvSpPr txBox="1"/>
            <p:nvPr/>
          </p:nvSpPr>
          <p:spPr>
            <a:xfrm>
              <a:off x="0" y="-142875"/>
              <a:ext cx="21738035" cy="2505472"/>
            </a:xfrm>
            <a:prstGeom prst="rect">
              <a:avLst/>
            </a:prstGeom>
          </p:spPr>
          <p:txBody>
            <a:bodyPr lIns="0" tIns="0" rIns="0" bIns="0" rtlCol="0" anchor="t"/>
            <a:lstStyle/>
            <a:p>
              <a:pPr algn="l">
                <a:lnSpc>
                  <a:spcPts val="6937"/>
                </a:lnSpc>
              </a:pPr>
              <a:r>
                <a:rPr lang="en-US" sz="5562" i="1" spc="-105" dirty="0">
                  <a:solidFill>
                    <a:srgbClr val="0E4714"/>
                  </a:solidFill>
                  <a:latin typeface="Times New Roman Condensed Italics"/>
                  <a:ea typeface="Times New Roman Condensed Italics"/>
                  <a:cs typeface="Times New Roman Condensed Italics"/>
                  <a:sym typeface="Times New Roman Condensed Italics"/>
                </a:rPr>
                <a:t>Innovative Approaches to Monitoring and Failure Prediction</a:t>
              </a:r>
            </a:p>
          </p:txBody>
        </p:sp>
      </p:grpSp>
      <p:grpSp>
        <p:nvGrpSpPr>
          <p:cNvPr id="5" name="Group 5"/>
          <p:cNvGrpSpPr/>
          <p:nvPr/>
        </p:nvGrpSpPr>
        <p:grpSpPr>
          <a:xfrm>
            <a:off x="1028700" y="3907865"/>
            <a:ext cx="4608314" cy="964470"/>
            <a:chOff x="0" y="0"/>
            <a:chExt cx="6144418" cy="1285960"/>
          </a:xfrm>
        </p:grpSpPr>
        <p:sp>
          <p:nvSpPr>
            <p:cNvPr id="6" name="Freeform 6"/>
            <p:cNvSpPr/>
            <p:nvPr/>
          </p:nvSpPr>
          <p:spPr>
            <a:xfrm>
              <a:off x="0" y="0"/>
              <a:ext cx="6144418" cy="1285960"/>
            </a:xfrm>
            <a:custGeom>
              <a:avLst/>
              <a:gdLst/>
              <a:ahLst/>
              <a:cxnLst/>
              <a:rect l="l" t="t" r="r" b="b"/>
              <a:pathLst>
                <a:path w="6144418" h="1285960">
                  <a:moveTo>
                    <a:pt x="0" y="0"/>
                  </a:moveTo>
                  <a:lnTo>
                    <a:pt x="6144418" y="0"/>
                  </a:lnTo>
                  <a:lnTo>
                    <a:pt x="6144418" y="1285960"/>
                  </a:lnTo>
                  <a:lnTo>
                    <a:pt x="0" y="1285960"/>
                  </a:lnTo>
                  <a:close/>
                </a:path>
              </a:pathLst>
            </a:custGeom>
            <a:solidFill>
              <a:srgbClr val="000000">
                <a:alpha val="0"/>
              </a:srgbClr>
            </a:solidFill>
          </p:spPr>
        </p:sp>
        <p:sp>
          <p:nvSpPr>
            <p:cNvPr id="7" name="TextBox 7"/>
            <p:cNvSpPr txBox="1"/>
            <p:nvPr/>
          </p:nvSpPr>
          <p:spPr>
            <a:xfrm>
              <a:off x="0" y="-19050"/>
              <a:ext cx="6144418" cy="1305010"/>
            </a:xfrm>
            <a:prstGeom prst="rect">
              <a:avLst/>
            </a:prstGeom>
          </p:spPr>
          <p:txBody>
            <a:bodyPr lIns="0" tIns="0" rIns="0" bIns="0" rtlCol="0" anchor="t"/>
            <a:lstStyle/>
            <a:p>
              <a:pPr algn="l">
                <a:lnSpc>
                  <a:spcPts val="3437"/>
                </a:lnSpc>
              </a:pPr>
              <a:r>
                <a:rPr lang="en-US" sz="2750" b="1">
                  <a:solidFill>
                    <a:srgbClr val="0E4714"/>
                  </a:solidFill>
                  <a:latin typeface="Gotham Bold"/>
                  <a:ea typeface="Gotham Bold"/>
                  <a:cs typeface="Gotham Bold"/>
                  <a:sym typeface="Gotham Bold"/>
                </a:rPr>
                <a:t>Hybrid Model Architecture</a:t>
              </a:r>
            </a:p>
          </p:txBody>
        </p:sp>
      </p:grpSp>
      <p:grpSp>
        <p:nvGrpSpPr>
          <p:cNvPr id="8" name="Group 8"/>
          <p:cNvGrpSpPr/>
          <p:nvPr/>
        </p:nvGrpSpPr>
        <p:grpSpPr>
          <a:xfrm>
            <a:off x="992238" y="4872335"/>
            <a:ext cx="7805886" cy="2268141"/>
            <a:chOff x="0" y="0"/>
            <a:chExt cx="10407848" cy="3024188"/>
          </a:xfrm>
        </p:grpSpPr>
        <p:sp>
          <p:nvSpPr>
            <p:cNvPr id="9" name="Freeform 9"/>
            <p:cNvSpPr/>
            <p:nvPr/>
          </p:nvSpPr>
          <p:spPr>
            <a:xfrm>
              <a:off x="0" y="0"/>
              <a:ext cx="10407848" cy="3024188"/>
            </a:xfrm>
            <a:custGeom>
              <a:avLst/>
              <a:gdLst/>
              <a:ahLst/>
              <a:cxnLst/>
              <a:rect l="l" t="t" r="r" b="b"/>
              <a:pathLst>
                <a:path w="10407848" h="3024188">
                  <a:moveTo>
                    <a:pt x="0" y="0"/>
                  </a:moveTo>
                  <a:lnTo>
                    <a:pt x="10407848" y="0"/>
                  </a:lnTo>
                  <a:lnTo>
                    <a:pt x="10407848" y="3024188"/>
                  </a:lnTo>
                  <a:lnTo>
                    <a:pt x="0" y="3024188"/>
                  </a:lnTo>
                  <a:close/>
                </a:path>
              </a:pathLst>
            </a:custGeom>
            <a:solidFill>
              <a:srgbClr val="000000">
                <a:alpha val="0"/>
              </a:srgbClr>
            </a:solidFill>
          </p:spPr>
        </p:sp>
        <p:sp>
          <p:nvSpPr>
            <p:cNvPr id="10" name="TextBox 10"/>
            <p:cNvSpPr txBox="1"/>
            <p:nvPr/>
          </p:nvSpPr>
          <p:spPr>
            <a:xfrm>
              <a:off x="0" y="-95250"/>
              <a:ext cx="10407848" cy="3119438"/>
            </a:xfrm>
            <a:prstGeom prst="rect">
              <a:avLst/>
            </a:prstGeom>
          </p:spPr>
          <p:txBody>
            <a:bodyPr lIns="0" tIns="0" rIns="0" bIns="0" rtlCol="0" anchor="t"/>
            <a:lstStyle/>
            <a:p>
              <a:pPr algn="just">
                <a:lnSpc>
                  <a:spcPts val="3562"/>
                </a:lnSpc>
              </a:pPr>
              <a:r>
                <a:rPr lang="en-US" sz="2187" spc="-32" dirty="0">
                  <a:solidFill>
                    <a:srgbClr val="749073"/>
                  </a:solidFill>
                  <a:latin typeface="Gotham"/>
                  <a:ea typeface="Gotham"/>
                  <a:cs typeface="Gotham"/>
                  <a:sym typeface="Gotham"/>
                </a:rPr>
                <a:t>The application uses a hybrid approach that combines classification-based prediction (Random Forest) for pattern recognition, anomaly detection (Isolation Forest) for identifying novel failure patterns, and time series forecasting (ARIMA) for predicting future metric trends.</a:t>
              </a:r>
            </a:p>
          </p:txBody>
        </p:sp>
      </p:grpSp>
      <p:grpSp>
        <p:nvGrpSpPr>
          <p:cNvPr id="11" name="Group 11"/>
          <p:cNvGrpSpPr/>
          <p:nvPr/>
        </p:nvGrpSpPr>
        <p:grpSpPr>
          <a:xfrm>
            <a:off x="9499401" y="3907865"/>
            <a:ext cx="5441751" cy="964470"/>
            <a:chOff x="0" y="0"/>
            <a:chExt cx="7255668" cy="1285960"/>
          </a:xfrm>
        </p:grpSpPr>
        <p:sp>
          <p:nvSpPr>
            <p:cNvPr id="12" name="Freeform 12"/>
            <p:cNvSpPr/>
            <p:nvPr/>
          </p:nvSpPr>
          <p:spPr>
            <a:xfrm>
              <a:off x="0" y="0"/>
              <a:ext cx="7255668" cy="1285960"/>
            </a:xfrm>
            <a:custGeom>
              <a:avLst/>
              <a:gdLst/>
              <a:ahLst/>
              <a:cxnLst/>
              <a:rect l="l" t="t" r="r" b="b"/>
              <a:pathLst>
                <a:path w="7255668" h="1285960">
                  <a:moveTo>
                    <a:pt x="0" y="0"/>
                  </a:moveTo>
                  <a:lnTo>
                    <a:pt x="7255668" y="0"/>
                  </a:lnTo>
                  <a:lnTo>
                    <a:pt x="7255668" y="1285960"/>
                  </a:lnTo>
                  <a:lnTo>
                    <a:pt x="0" y="1285960"/>
                  </a:lnTo>
                  <a:close/>
                </a:path>
              </a:pathLst>
            </a:custGeom>
            <a:solidFill>
              <a:srgbClr val="000000">
                <a:alpha val="0"/>
              </a:srgbClr>
            </a:solidFill>
          </p:spPr>
        </p:sp>
        <p:sp>
          <p:nvSpPr>
            <p:cNvPr id="13" name="TextBox 13"/>
            <p:cNvSpPr txBox="1"/>
            <p:nvPr/>
          </p:nvSpPr>
          <p:spPr>
            <a:xfrm>
              <a:off x="0" y="-19050"/>
              <a:ext cx="7255668" cy="1305010"/>
            </a:xfrm>
            <a:prstGeom prst="rect">
              <a:avLst/>
            </a:prstGeom>
          </p:spPr>
          <p:txBody>
            <a:bodyPr lIns="0" tIns="0" rIns="0" bIns="0" rtlCol="0" anchor="t"/>
            <a:lstStyle/>
            <a:p>
              <a:pPr algn="l">
                <a:lnSpc>
                  <a:spcPts val="3437"/>
                </a:lnSpc>
              </a:pPr>
              <a:r>
                <a:rPr lang="en-US" sz="2750" b="1" dirty="0">
                  <a:solidFill>
                    <a:srgbClr val="0E4714"/>
                  </a:solidFill>
                  <a:latin typeface="Gotham Bold"/>
                  <a:ea typeface="Gotham Bold"/>
                  <a:cs typeface="Gotham Bold"/>
                  <a:sym typeface="Gotham Bold"/>
                </a:rPr>
                <a:t>Automated Feature Engineering</a:t>
              </a:r>
            </a:p>
          </p:txBody>
        </p:sp>
      </p:grpSp>
      <p:grpSp>
        <p:nvGrpSpPr>
          <p:cNvPr id="14" name="Group 14"/>
          <p:cNvGrpSpPr/>
          <p:nvPr/>
        </p:nvGrpSpPr>
        <p:grpSpPr>
          <a:xfrm>
            <a:off x="9499401" y="4872335"/>
            <a:ext cx="7805886" cy="2268141"/>
            <a:chOff x="0" y="0"/>
            <a:chExt cx="10407848" cy="3024188"/>
          </a:xfrm>
        </p:grpSpPr>
        <p:sp>
          <p:nvSpPr>
            <p:cNvPr id="15" name="Freeform 15"/>
            <p:cNvSpPr/>
            <p:nvPr/>
          </p:nvSpPr>
          <p:spPr>
            <a:xfrm>
              <a:off x="0" y="0"/>
              <a:ext cx="10407848" cy="3024188"/>
            </a:xfrm>
            <a:custGeom>
              <a:avLst/>
              <a:gdLst/>
              <a:ahLst/>
              <a:cxnLst/>
              <a:rect l="l" t="t" r="r" b="b"/>
              <a:pathLst>
                <a:path w="10407848" h="3024188">
                  <a:moveTo>
                    <a:pt x="0" y="0"/>
                  </a:moveTo>
                  <a:lnTo>
                    <a:pt x="10407848" y="0"/>
                  </a:lnTo>
                  <a:lnTo>
                    <a:pt x="10407848" y="3024188"/>
                  </a:lnTo>
                  <a:lnTo>
                    <a:pt x="0" y="3024188"/>
                  </a:lnTo>
                  <a:close/>
                </a:path>
              </a:pathLst>
            </a:custGeom>
            <a:solidFill>
              <a:srgbClr val="000000">
                <a:alpha val="0"/>
              </a:srgbClr>
            </a:solidFill>
          </p:spPr>
        </p:sp>
        <p:sp>
          <p:nvSpPr>
            <p:cNvPr id="16" name="TextBox 16"/>
            <p:cNvSpPr txBox="1"/>
            <p:nvPr/>
          </p:nvSpPr>
          <p:spPr>
            <a:xfrm>
              <a:off x="0" y="-95250"/>
              <a:ext cx="10407848" cy="3119438"/>
            </a:xfrm>
            <a:prstGeom prst="rect">
              <a:avLst/>
            </a:prstGeom>
          </p:spPr>
          <p:txBody>
            <a:bodyPr lIns="0" tIns="0" rIns="0" bIns="0" rtlCol="0" anchor="t"/>
            <a:lstStyle/>
            <a:p>
              <a:pPr algn="just">
                <a:lnSpc>
                  <a:spcPts val="3562"/>
                </a:lnSpc>
              </a:pPr>
              <a:r>
                <a:rPr lang="en-US" sz="2187" spc="-32" dirty="0">
                  <a:solidFill>
                    <a:srgbClr val="749073"/>
                  </a:solidFill>
                  <a:latin typeface="Gotham"/>
                  <a:ea typeface="Gotham"/>
                  <a:cs typeface="Gotham"/>
                  <a:sym typeface="Gotham"/>
                </a:rPr>
                <a:t>The application implements automated feature engineering that captures temporal patterns in Kubernetes metrics. This includes generating rolling statistics, trend indicators, and inter-metric relationships, which simple monitoring tools often miss.</a:t>
              </a:r>
            </a:p>
          </p:txBody>
        </p:sp>
      </p:grpSp>
      <p:grpSp>
        <p:nvGrpSpPr>
          <p:cNvPr id="17" name="Group 17"/>
          <p:cNvGrpSpPr/>
          <p:nvPr/>
        </p:nvGrpSpPr>
        <p:grpSpPr>
          <a:xfrm>
            <a:off x="992237" y="7714506"/>
            <a:ext cx="16303526" cy="907256"/>
            <a:chOff x="0" y="0"/>
            <a:chExt cx="21738035" cy="1209675"/>
          </a:xfrm>
        </p:grpSpPr>
        <p:sp>
          <p:nvSpPr>
            <p:cNvPr id="18" name="Freeform 18"/>
            <p:cNvSpPr/>
            <p:nvPr/>
          </p:nvSpPr>
          <p:spPr>
            <a:xfrm>
              <a:off x="0" y="0"/>
              <a:ext cx="21738034" cy="1209675"/>
            </a:xfrm>
            <a:custGeom>
              <a:avLst/>
              <a:gdLst/>
              <a:ahLst/>
              <a:cxnLst/>
              <a:rect l="l" t="t" r="r" b="b"/>
              <a:pathLst>
                <a:path w="21738034" h="1209675">
                  <a:moveTo>
                    <a:pt x="0" y="0"/>
                  </a:moveTo>
                  <a:lnTo>
                    <a:pt x="21738034" y="0"/>
                  </a:lnTo>
                  <a:lnTo>
                    <a:pt x="21738034" y="1209675"/>
                  </a:lnTo>
                  <a:lnTo>
                    <a:pt x="0" y="1209675"/>
                  </a:lnTo>
                  <a:close/>
                </a:path>
              </a:pathLst>
            </a:custGeom>
            <a:solidFill>
              <a:srgbClr val="000000">
                <a:alpha val="0"/>
              </a:srgbClr>
            </a:solidFill>
          </p:spPr>
        </p:sp>
        <p:sp>
          <p:nvSpPr>
            <p:cNvPr id="19" name="TextBox 19"/>
            <p:cNvSpPr txBox="1"/>
            <p:nvPr/>
          </p:nvSpPr>
          <p:spPr>
            <a:xfrm>
              <a:off x="0" y="-95250"/>
              <a:ext cx="21738035" cy="1304925"/>
            </a:xfrm>
            <a:prstGeom prst="rect">
              <a:avLst/>
            </a:prstGeom>
          </p:spPr>
          <p:txBody>
            <a:bodyPr lIns="0" tIns="0" rIns="0" bIns="0" rtlCol="0" anchor="t"/>
            <a:lstStyle/>
            <a:p>
              <a:pPr algn="l">
                <a:lnSpc>
                  <a:spcPts val="3562"/>
                </a:lnSpc>
              </a:pPr>
              <a:r>
                <a:rPr lang="en-US" sz="2187" spc="-32">
                  <a:solidFill>
                    <a:srgbClr val="749073"/>
                  </a:solidFill>
                  <a:latin typeface="Gotham"/>
                  <a:ea typeface="Gotham"/>
                  <a:cs typeface="Gotham"/>
                  <a:sym typeface="Gotham"/>
                </a:rPr>
                <a:t>By integrating automated data collection to visualization, this system creates a seamless experience, eliminating the need to switch between multiple tools for monitoring, analysis, and prediction.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992237" y="2267694"/>
            <a:ext cx="13409711" cy="989195"/>
            <a:chOff x="0" y="0"/>
            <a:chExt cx="17879615" cy="1318927"/>
          </a:xfrm>
        </p:grpSpPr>
        <p:sp>
          <p:nvSpPr>
            <p:cNvPr id="3" name="Freeform 3"/>
            <p:cNvSpPr/>
            <p:nvPr/>
          </p:nvSpPr>
          <p:spPr>
            <a:xfrm>
              <a:off x="0" y="0"/>
              <a:ext cx="17879616" cy="1318927"/>
            </a:xfrm>
            <a:custGeom>
              <a:avLst/>
              <a:gdLst/>
              <a:ahLst/>
              <a:cxnLst/>
              <a:rect l="l" t="t" r="r" b="b"/>
              <a:pathLst>
                <a:path w="17879616" h="1318927">
                  <a:moveTo>
                    <a:pt x="0" y="0"/>
                  </a:moveTo>
                  <a:lnTo>
                    <a:pt x="17879616" y="0"/>
                  </a:lnTo>
                  <a:lnTo>
                    <a:pt x="17879616" y="1318927"/>
                  </a:lnTo>
                  <a:lnTo>
                    <a:pt x="0" y="1318927"/>
                  </a:lnTo>
                  <a:close/>
                </a:path>
              </a:pathLst>
            </a:custGeom>
            <a:solidFill>
              <a:srgbClr val="000000">
                <a:alpha val="0"/>
              </a:srgbClr>
            </a:solidFill>
          </p:spPr>
        </p:sp>
        <p:sp>
          <p:nvSpPr>
            <p:cNvPr id="4" name="TextBox 4"/>
            <p:cNvSpPr txBox="1"/>
            <p:nvPr/>
          </p:nvSpPr>
          <p:spPr>
            <a:xfrm>
              <a:off x="0" y="-142875"/>
              <a:ext cx="17879615" cy="1461802"/>
            </a:xfrm>
            <a:prstGeom prst="rect">
              <a:avLst/>
            </a:prstGeom>
          </p:spPr>
          <p:txBody>
            <a:bodyPr lIns="0" tIns="0" rIns="0" bIns="0" rtlCol="0" anchor="t"/>
            <a:lstStyle/>
            <a:p>
              <a:pPr algn="l">
                <a:lnSpc>
                  <a:spcPts val="6937"/>
                </a:lnSpc>
              </a:pPr>
              <a:r>
                <a:rPr lang="en-US" sz="5562" i="1" spc="-105">
                  <a:solidFill>
                    <a:srgbClr val="0E4714"/>
                  </a:solidFill>
                  <a:latin typeface="Times New Roman Condensed Italics"/>
                  <a:ea typeface="Times New Roman Condensed Italics"/>
                  <a:cs typeface="Times New Roman Condensed Italics"/>
                  <a:sym typeface="Times New Roman Condensed Italics"/>
                </a:rPr>
                <a:t>ML-Powered Failure Prediction Application</a:t>
              </a:r>
            </a:p>
          </p:txBody>
        </p:sp>
      </p:grpSp>
      <p:grpSp>
        <p:nvGrpSpPr>
          <p:cNvPr id="5" name="Group 5"/>
          <p:cNvGrpSpPr/>
          <p:nvPr/>
        </p:nvGrpSpPr>
        <p:grpSpPr>
          <a:xfrm>
            <a:off x="992238" y="3862388"/>
            <a:ext cx="4307979" cy="964470"/>
            <a:chOff x="0" y="0"/>
            <a:chExt cx="5743972" cy="1285960"/>
          </a:xfrm>
        </p:grpSpPr>
        <p:sp>
          <p:nvSpPr>
            <p:cNvPr id="6" name="Freeform 6"/>
            <p:cNvSpPr/>
            <p:nvPr/>
          </p:nvSpPr>
          <p:spPr>
            <a:xfrm>
              <a:off x="0" y="0"/>
              <a:ext cx="5743972" cy="1285960"/>
            </a:xfrm>
            <a:custGeom>
              <a:avLst/>
              <a:gdLst/>
              <a:ahLst/>
              <a:cxnLst/>
              <a:rect l="l" t="t" r="r" b="b"/>
              <a:pathLst>
                <a:path w="5743972" h="1285960">
                  <a:moveTo>
                    <a:pt x="0" y="0"/>
                  </a:moveTo>
                  <a:lnTo>
                    <a:pt x="5743972" y="0"/>
                  </a:lnTo>
                  <a:lnTo>
                    <a:pt x="5743972" y="1285960"/>
                  </a:lnTo>
                  <a:lnTo>
                    <a:pt x="0" y="1285960"/>
                  </a:lnTo>
                  <a:close/>
                </a:path>
              </a:pathLst>
            </a:custGeom>
            <a:solidFill>
              <a:srgbClr val="000000">
                <a:alpha val="0"/>
              </a:srgbClr>
            </a:solidFill>
          </p:spPr>
        </p:sp>
        <p:sp>
          <p:nvSpPr>
            <p:cNvPr id="7" name="TextBox 7"/>
            <p:cNvSpPr txBox="1"/>
            <p:nvPr/>
          </p:nvSpPr>
          <p:spPr>
            <a:xfrm>
              <a:off x="0" y="-19050"/>
              <a:ext cx="5743972" cy="1305010"/>
            </a:xfrm>
            <a:prstGeom prst="rect">
              <a:avLst/>
            </a:prstGeom>
          </p:spPr>
          <p:txBody>
            <a:bodyPr lIns="0" tIns="0" rIns="0" bIns="0" rtlCol="0" anchor="t"/>
            <a:lstStyle/>
            <a:p>
              <a:pPr algn="l">
                <a:lnSpc>
                  <a:spcPts val="3437"/>
                </a:lnSpc>
              </a:pPr>
              <a:r>
                <a:rPr lang="en-US" sz="2750" b="1">
                  <a:solidFill>
                    <a:srgbClr val="0E4714"/>
                  </a:solidFill>
                  <a:latin typeface="Gotham Bold"/>
                  <a:ea typeface="Gotham Bold"/>
                  <a:cs typeface="Gotham Bold"/>
                  <a:sym typeface="Gotham Bold"/>
                </a:rPr>
                <a:t>Random Forest Classifier</a:t>
              </a:r>
            </a:p>
          </p:txBody>
        </p:sp>
      </p:grpSp>
      <p:grpSp>
        <p:nvGrpSpPr>
          <p:cNvPr id="8" name="Group 8"/>
          <p:cNvGrpSpPr/>
          <p:nvPr/>
        </p:nvGrpSpPr>
        <p:grpSpPr>
          <a:xfrm>
            <a:off x="988665" y="4815632"/>
            <a:ext cx="4972645" cy="2721769"/>
            <a:chOff x="0" y="0"/>
            <a:chExt cx="6630193" cy="3629025"/>
          </a:xfrm>
        </p:grpSpPr>
        <p:sp>
          <p:nvSpPr>
            <p:cNvPr id="9" name="Freeform 9"/>
            <p:cNvSpPr/>
            <p:nvPr/>
          </p:nvSpPr>
          <p:spPr>
            <a:xfrm>
              <a:off x="0" y="0"/>
              <a:ext cx="6630193" cy="3629025"/>
            </a:xfrm>
            <a:custGeom>
              <a:avLst/>
              <a:gdLst/>
              <a:ahLst/>
              <a:cxnLst/>
              <a:rect l="l" t="t" r="r" b="b"/>
              <a:pathLst>
                <a:path w="6630193" h="3629025">
                  <a:moveTo>
                    <a:pt x="0" y="0"/>
                  </a:moveTo>
                  <a:lnTo>
                    <a:pt x="6630193" y="0"/>
                  </a:lnTo>
                  <a:lnTo>
                    <a:pt x="6630193" y="3629025"/>
                  </a:lnTo>
                  <a:lnTo>
                    <a:pt x="0" y="3629025"/>
                  </a:lnTo>
                  <a:close/>
                </a:path>
              </a:pathLst>
            </a:custGeom>
            <a:solidFill>
              <a:srgbClr val="000000">
                <a:alpha val="0"/>
              </a:srgbClr>
            </a:solidFill>
          </p:spPr>
        </p:sp>
        <p:sp>
          <p:nvSpPr>
            <p:cNvPr id="10" name="TextBox 10"/>
            <p:cNvSpPr txBox="1"/>
            <p:nvPr/>
          </p:nvSpPr>
          <p:spPr>
            <a:xfrm>
              <a:off x="0" y="-95250"/>
              <a:ext cx="6630193" cy="3724275"/>
            </a:xfrm>
            <a:prstGeom prst="rect">
              <a:avLst/>
            </a:prstGeom>
          </p:spPr>
          <p:txBody>
            <a:bodyPr lIns="0" tIns="0" rIns="0" bIns="0" rtlCol="0" anchor="t"/>
            <a:lstStyle/>
            <a:p>
              <a:pPr algn="just">
                <a:lnSpc>
                  <a:spcPts val="3562"/>
                </a:lnSpc>
              </a:pPr>
              <a:r>
                <a:rPr lang="en-US" sz="2187" spc="-32" dirty="0">
                  <a:solidFill>
                    <a:srgbClr val="749073"/>
                  </a:solidFill>
                  <a:latin typeface="Gotham"/>
                  <a:ea typeface="Gotham"/>
                  <a:cs typeface="Gotham"/>
                  <a:sym typeface="Gotham"/>
                </a:rPr>
                <a:t>The Random Forest model is used for classification-based prediction of Kubernetes failures. It creates multiple decision trees during training and uses majority voting to make final predictions.</a:t>
              </a:r>
            </a:p>
          </p:txBody>
        </p:sp>
      </p:grpSp>
      <p:grpSp>
        <p:nvGrpSpPr>
          <p:cNvPr id="11" name="Group 11"/>
          <p:cNvGrpSpPr/>
          <p:nvPr/>
        </p:nvGrpSpPr>
        <p:grpSpPr>
          <a:xfrm>
            <a:off x="6666160" y="3862388"/>
            <a:ext cx="3544044" cy="535845"/>
            <a:chOff x="0" y="0"/>
            <a:chExt cx="4725392" cy="714460"/>
          </a:xfrm>
        </p:grpSpPr>
        <p:sp>
          <p:nvSpPr>
            <p:cNvPr id="12" name="Freeform 12"/>
            <p:cNvSpPr/>
            <p:nvPr/>
          </p:nvSpPr>
          <p:spPr>
            <a:xfrm>
              <a:off x="0" y="0"/>
              <a:ext cx="4725392" cy="714460"/>
            </a:xfrm>
            <a:custGeom>
              <a:avLst/>
              <a:gdLst/>
              <a:ahLst/>
              <a:cxnLst/>
              <a:rect l="l" t="t" r="r" b="b"/>
              <a:pathLst>
                <a:path w="4725392" h="714460">
                  <a:moveTo>
                    <a:pt x="0" y="0"/>
                  </a:moveTo>
                  <a:lnTo>
                    <a:pt x="4725392" y="0"/>
                  </a:lnTo>
                  <a:lnTo>
                    <a:pt x="4725392" y="714460"/>
                  </a:lnTo>
                  <a:lnTo>
                    <a:pt x="0" y="714460"/>
                  </a:lnTo>
                  <a:close/>
                </a:path>
              </a:pathLst>
            </a:custGeom>
            <a:solidFill>
              <a:srgbClr val="000000">
                <a:alpha val="0"/>
              </a:srgbClr>
            </a:solidFill>
          </p:spPr>
        </p:sp>
        <p:sp>
          <p:nvSpPr>
            <p:cNvPr id="13" name="TextBox 13"/>
            <p:cNvSpPr txBox="1"/>
            <p:nvPr/>
          </p:nvSpPr>
          <p:spPr>
            <a:xfrm>
              <a:off x="0" y="-19050"/>
              <a:ext cx="4725392" cy="733510"/>
            </a:xfrm>
            <a:prstGeom prst="rect">
              <a:avLst/>
            </a:prstGeom>
          </p:spPr>
          <p:txBody>
            <a:bodyPr lIns="0" tIns="0" rIns="0" bIns="0" rtlCol="0" anchor="t"/>
            <a:lstStyle/>
            <a:p>
              <a:pPr algn="l">
                <a:lnSpc>
                  <a:spcPts val="3437"/>
                </a:lnSpc>
              </a:pPr>
              <a:r>
                <a:rPr lang="en-US" sz="2750" b="1">
                  <a:solidFill>
                    <a:srgbClr val="0E4714"/>
                  </a:solidFill>
                  <a:latin typeface="Gotham Bold"/>
                  <a:ea typeface="Gotham Bold"/>
                  <a:cs typeface="Gotham Bold"/>
                  <a:sym typeface="Gotham Bold"/>
                </a:rPr>
                <a:t>Isolation Forest</a:t>
              </a:r>
            </a:p>
          </p:txBody>
        </p:sp>
      </p:grpSp>
      <p:grpSp>
        <p:nvGrpSpPr>
          <p:cNvPr id="14" name="Group 14"/>
          <p:cNvGrpSpPr/>
          <p:nvPr/>
        </p:nvGrpSpPr>
        <p:grpSpPr>
          <a:xfrm>
            <a:off x="6666160" y="4588817"/>
            <a:ext cx="4972645" cy="2721769"/>
            <a:chOff x="0" y="0"/>
            <a:chExt cx="6630193" cy="3629025"/>
          </a:xfrm>
        </p:grpSpPr>
        <p:sp>
          <p:nvSpPr>
            <p:cNvPr id="15" name="Freeform 15"/>
            <p:cNvSpPr/>
            <p:nvPr/>
          </p:nvSpPr>
          <p:spPr>
            <a:xfrm>
              <a:off x="0" y="0"/>
              <a:ext cx="6630193" cy="3629025"/>
            </a:xfrm>
            <a:custGeom>
              <a:avLst/>
              <a:gdLst/>
              <a:ahLst/>
              <a:cxnLst/>
              <a:rect l="l" t="t" r="r" b="b"/>
              <a:pathLst>
                <a:path w="6630193" h="3629025">
                  <a:moveTo>
                    <a:pt x="0" y="0"/>
                  </a:moveTo>
                  <a:lnTo>
                    <a:pt x="6630193" y="0"/>
                  </a:lnTo>
                  <a:lnTo>
                    <a:pt x="6630193" y="3629025"/>
                  </a:lnTo>
                  <a:lnTo>
                    <a:pt x="0" y="3629025"/>
                  </a:lnTo>
                  <a:close/>
                </a:path>
              </a:pathLst>
            </a:custGeom>
            <a:solidFill>
              <a:srgbClr val="000000">
                <a:alpha val="0"/>
              </a:srgbClr>
            </a:solidFill>
          </p:spPr>
        </p:sp>
        <p:sp>
          <p:nvSpPr>
            <p:cNvPr id="16" name="TextBox 16"/>
            <p:cNvSpPr txBox="1"/>
            <p:nvPr/>
          </p:nvSpPr>
          <p:spPr>
            <a:xfrm>
              <a:off x="0" y="-95250"/>
              <a:ext cx="6630193" cy="3724275"/>
            </a:xfrm>
            <a:prstGeom prst="rect">
              <a:avLst/>
            </a:prstGeom>
          </p:spPr>
          <p:txBody>
            <a:bodyPr lIns="0" tIns="0" rIns="0" bIns="0" rtlCol="0" anchor="t"/>
            <a:lstStyle/>
            <a:p>
              <a:pPr algn="just">
                <a:lnSpc>
                  <a:spcPts val="3562"/>
                </a:lnSpc>
              </a:pPr>
              <a:r>
                <a:rPr lang="en-US" sz="2187" spc="-32" dirty="0">
                  <a:solidFill>
                    <a:srgbClr val="749073"/>
                  </a:solidFill>
                  <a:latin typeface="Gotham"/>
                  <a:ea typeface="Gotham"/>
                  <a:cs typeface="Gotham"/>
                  <a:sym typeface="Gotham"/>
                </a:rPr>
                <a:t>The Isolation Forest model is used for anomaly detection in Kubernetes metrics. It isolates observations by randomly selecting features and creating shorter paths for anomalies compared to normal observations.</a:t>
              </a:r>
            </a:p>
          </p:txBody>
        </p:sp>
      </p:grpSp>
      <p:grpSp>
        <p:nvGrpSpPr>
          <p:cNvPr id="17" name="Group 17"/>
          <p:cNvGrpSpPr/>
          <p:nvPr/>
        </p:nvGrpSpPr>
        <p:grpSpPr>
          <a:xfrm>
            <a:off x="12548071" y="3648075"/>
            <a:ext cx="4556671" cy="964470"/>
            <a:chOff x="0" y="0"/>
            <a:chExt cx="6075562" cy="1285960"/>
          </a:xfrm>
        </p:grpSpPr>
        <p:sp>
          <p:nvSpPr>
            <p:cNvPr id="18" name="Freeform 18"/>
            <p:cNvSpPr/>
            <p:nvPr/>
          </p:nvSpPr>
          <p:spPr>
            <a:xfrm>
              <a:off x="0" y="0"/>
              <a:ext cx="6075562" cy="1285960"/>
            </a:xfrm>
            <a:custGeom>
              <a:avLst/>
              <a:gdLst/>
              <a:ahLst/>
              <a:cxnLst/>
              <a:rect l="l" t="t" r="r" b="b"/>
              <a:pathLst>
                <a:path w="6075562" h="1285960">
                  <a:moveTo>
                    <a:pt x="0" y="0"/>
                  </a:moveTo>
                  <a:lnTo>
                    <a:pt x="6075562" y="0"/>
                  </a:lnTo>
                  <a:lnTo>
                    <a:pt x="6075562" y="1285960"/>
                  </a:lnTo>
                  <a:lnTo>
                    <a:pt x="0" y="1285960"/>
                  </a:lnTo>
                  <a:close/>
                </a:path>
              </a:pathLst>
            </a:custGeom>
            <a:solidFill>
              <a:srgbClr val="000000">
                <a:alpha val="0"/>
              </a:srgbClr>
            </a:solidFill>
          </p:spPr>
        </p:sp>
        <p:sp>
          <p:nvSpPr>
            <p:cNvPr id="19" name="TextBox 19"/>
            <p:cNvSpPr txBox="1"/>
            <p:nvPr/>
          </p:nvSpPr>
          <p:spPr>
            <a:xfrm>
              <a:off x="0" y="-19050"/>
              <a:ext cx="6075562" cy="1305010"/>
            </a:xfrm>
            <a:prstGeom prst="rect">
              <a:avLst/>
            </a:prstGeom>
          </p:spPr>
          <p:txBody>
            <a:bodyPr lIns="0" tIns="0" rIns="0" bIns="0" rtlCol="0" anchor="t"/>
            <a:lstStyle/>
            <a:p>
              <a:pPr algn="l">
                <a:lnSpc>
                  <a:spcPts val="3437"/>
                </a:lnSpc>
              </a:pPr>
              <a:r>
                <a:rPr lang="en-US" sz="2750" b="1">
                  <a:solidFill>
                    <a:srgbClr val="0E4714"/>
                  </a:solidFill>
                  <a:latin typeface="Gotham Bold"/>
                  <a:ea typeface="Gotham Bold"/>
                  <a:cs typeface="Gotham Bold"/>
                  <a:sym typeface="Gotham Bold"/>
                </a:rPr>
                <a:t>ARIMA Time Series Model</a:t>
              </a:r>
            </a:p>
          </p:txBody>
        </p:sp>
      </p:grpSp>
      <p:grpSp>
        <p:nvGrpSpPr>
          <p:cNvPr id="20" name="Group 20"/>
          <p:cNvGrpSpPr/>
          <p:nvPr/>
        </p:nvGrpSpPr>
        <p:grpSpPr>
          <a:xfrm>
            <a:off x="12340084" y="4588818"/>
            <a:ext cx="4972645" cy="3175397"/>
            <a:chOff x="0" y="0"/>
            <a:chExt cx="6630193" cy="4233863"/>
          </a:xfrm>
        </p:grpSpPr>
        <p:sp>
          <p:nvSpPr>
            <p:cNvPr id="21" name="Freeform 21"/>
            <p:cNvSpPr/>
            <p:nvPr/>
          </p:nvSpPr>
          <p:spPr>
            <a:xfrm>
              <a:off x="0" y="0"/>
              <a:ext cx="6630193" cy="4233863"/>
            </a:xfrm>
            <a:custGeom>
              <a:avLst/>
              <a:gdLst/>
              <a:ahLst/>
              <a:cxnLst/>
              <a:rect l="l" t="t" r="r" b="b"/>
              <a:pathLst>
                <a:path w="6630193" h="4233863">
                  <a:moveTo>
                    <a:pt x="0" y="0"/>
                  </a:moveTo>
                  <a:lnTo>
                    <a:pt x="6630193" y="0"/>
                  </a:lnTo>
                  <a:lnTo>
                    <a:pt x="6630193" y="4233863"/>
                  </a:lnTo>
                  <a:lnTo>
                    <a:pt x="0" y="4233863"/>
                  </a:lnTo>
                  <a:close/>
                </a:path>
              </a:pathLst>
            </a:custGeom>
            <a:solidFill>
              <a:srgbClr val="000000">
                <a:alpha val="0"/>
              </a:srgbClr>
            </a:solidFill>
          </p:spPr>
        </p:sp>
        <p:sp>
          <p:nvSpPr>
            <p:cNvPr id="22" name="TextBox 22"/>
            <p:cNvSpPr txBox="1"/>
            <p:nvPr/>
          </p:nvSpPr>
          <p:spPr>
            <a:xfrm>
              <a:off x="0" y="-95250"/>
              <a:ext cx="6630193" cy="4329113"/>
            </a:xfrm>
            <a:prstGeom prst="rect">
              <a:avLst/>
            </a:prstGeom>
          </p:spPr>
          <p:txBody>
            <a:bodyPr lIns="0" tIns="0" rIns="0" bIns="0" rtlCol="0" anchor="t"/>
            <a:lstStyle/>
            <a:p>
              <a:pPr algn="just">
                <a:lnSpc>
                  <a:spcPts val="3562"/>
                </a:lnSpc>
              </a:pPr>
              <a:r>
                <a:rPr lang="en-US" sz="2187" spc="-32" dirty="0">
                  <a:solidFill>
                    <a:srgbClr val="749073"/>
                  </a:solidFill>
                  <a:latin typeface="Gotham"/>
                  <a:ea typeface="Gotham"/>
                  <a:cs typeface="Gotham"/>
                  <a:sym typeface="Gotham"/>
                </a:rPr>
                <a:t>The ARIMA (</a:t>
              </a:r>
              <a:r>
                <a:rPr lang="en-US" sz="2187" spc="-32" dirty="0" err="1">
                  <a:solidFill>
                    <a:srgbClr val="749073"/>
                  </a:solidFill>
                  <a:latin typeface="Gotham"/>
                  <a:ea typeface="Gotham"/>
                  <a:cs typeface="Gotham"/>
                  <a:sym typeface="Gotham"/>
                </a:rPr>
                <a:t>AutoRegressive</a:t>
              </a:r>
              <a:r>
                <a:rPr lang="en-US" sz="2187" spc="-32" dirty="0">
                  <a:solidFill>
                    <a:srgbClr val="749073"/>
                  </a:solidFill>
                  <a:latin typeface="Gotham"/>
                  <a:ea typeface="Gotham"/>
                  <a:cs typeface="Gotham"/>
                  <a:sym typeface="Gotham"/>
                </a:rPr>
                <a:t> Integrated Moving Average) model is used for forecasting future metrics values and detecting trends. It captures temporal patterns in metrics data and forecasts future values based on historical patterns.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4084369" y="879763"/>
            <a:ext cx="8878192" cy="989195"/>
            <a:chOff x="0" y="0"/>
            <a:chExt cx="11837590" cy="1318927"/>
          </a:xfrm>
        </p:grpSpPr>
        <p:sp>
          <p:nvSpPr>
            <p:cNvPr id="3" name="Freeform 3"/>
            <p:cNvSpPr/>
            <p:nvPr/>
          </p:nvSpPr>
          <p:spPr>
            <a:xfrm>
              <a:off x="0" y="0"/>
              <a:ext cx="11837590" cy="1318927"/>
            </a:xfrm>
            <a:custGeom>
              <a:avLst/>
              <a:gdLst/>
              <a:ahLst/>
              <a:cxnLst/>
              <a:rect l="l" t="t" r="r" b="b"/>
              <a:pathLst>
                <a:path w="11837590" h="1318927">
                  <a:moveTo>
                    <a:pt x="0" y="0"/>
                  </a:moveTo>
                  <a:lnTo>
                    <a:pt x="11837590" y="0"/>
                  </a:lnTo>
                  <a:lnTo>
                    <a:pt x="11837590" y="1318927"/>
                  </a:lnTo>
                  <a:lnTo>
                    <a:pt x="0" y="1318927"/>
                  </a:lnTo>
                  <a:close/>
                </a:path>
              </a:pathLst>
            </a:custGeom>
            <a:solidFill>
              <a:srgbClr val="000000">
                <a:alpha val="0"/>
              </a:srgbClr>
            </a:solidFill>
          </p:spPr>
        </p:sp>
        <p:sp>
          <p:nvSpPr>
            <p:cNvPr id="4" name="TextBox 4"/>
            <p:cNvSpPr txBox="1"/>
            <p:nvPr/>
          </p:nvSpPr>
          <p:spPr>
            <a:xfrm>
              <a:off x="0" y="-142875"/>
              <a:ext cx="11837590" cy="1461802"/>
            </a:xfrm>
            <a:prstGeom prst="rect">
              <a:avLst/>
            </a:prstGeom>
          </p:spPr>
          <p:txBody>
            <a:bodyPr lIns="0" tIns="0" rIns="0" bIns="0" rtlCol="0" anchor="t"/>
            <a:lstStyle/>
            <a:p>
              <a:pPr algn="ctr">
                <a:lnSpc>
                  <a:spcPts val="6937"/>
                </a:lnSpc>
              </a:pPr>
              <a:r>
                <a:rPr lang="en-US" sz="5562" i="1" spc="-105">
                  <a:solidFill>
                    <a:srgbClr val="0E4714"/>
                  </a:solidFill>
                  <a:latin typeface="Times New Roman Condensed Italics"/>
                  <a:ea typeface="Times New Roman Condensed Italics"/>
                  <a:cs typeface="Times New Roman Condensed Italics"/>
                  <a:sym typeface="Times New Roman Condensed Italics"/>
                </a:rPr>
                <a:t>Key Features and Benefits</a:t>
              </a:r>
            </a:p>
          </p:txBody>
        </p:sp>
      </p:grpSp>
      <p:grpSp>
        <p:nvGrpSpPr>
          <p:cNvPr id="5" name="Group 5"/>
          <p:cNvGrpSpPr/>
          <p:nvPr/>
        </p:nvGrpSpPr>
        <p:grpSpPr>
          <a:xfrm>
            <a:off x="1793830" y="2334696"/>
            <a:ext cx="4581079" cy="4355455"/>
            <a:chOff x="0" y="0"/>
            <a:chExt cx="6108105" cy="5807273"/>
          </a:xfrm>
        </p:grpSpPr>
        <p:sp>
          <p:nvSpPr>
            <p:cNvPr id="6" name="Freeform 6"/>
            <p:cNvSpPr/>
            <p:nvPr/>
          </p:nvSpPr>
          <p:spPr>
            <a:xfrm>
              <a:off x="0" y="0"/>
              <a:ext cx="6108065" cy="5807202"/>
            </a:xfrm>
            <a:custGeom>
              <a:avLst/>
              <a:gdLst/>
              <a:ahLst/>
              <a:cxnLst/>
              <a:rect l="l" t="t" r="r" b="b"/>
              <a:pathLst>
                <a:path w="6108065" h="5807202">
                  <a:moveTo>
                    <a:pt x="0" y="56642"/>
                  </a:moveTo>
                  <a:cubicBezTo>
                    <a:pt x="0" y="25400"/>
                    <a:pt x="25400" y="0"/>
                    <a:pt x="56642" y="0"/>
                  </a:cubicBezTo>
                  <a:lnTo>
                    <a:pt x="6051423" y="0"/>
                  </a:lnTo>
                  <a:cubicBezTo>
                    <a:pt x="6082665" y="0"/>
                    <a:pt x="6108065" y="25400"/>
                    <a:pt x="6108065" y="56642"/>
                  </a:cubicBezTo>
                  <a:lnTo>
                    <a:pt x="6108065" y="5750560"/>
                  </a:lnTo>
                  <a:cubicBezTo>
                    <a:pt x="6108065" y="5781802"/>
                    <a:pt x="6082665" y="5807202"/>
                    <a:pt x="6051423" y="5807202"/>
                  </a:cubicBezTo>
                  <a:lnTo>
                    <a:pt x="56642" y="5807202"/>
                  </a:lnTo>
                  <a:cubicBezTo>
                    <a:pt x="25400" y="5807202"/>
                    <a:pt x="0" y="5781802"/>
                    <a:pt x="0" y="5750560"/>
                  </a:cubicBezTo>
                  <a:close/>
                </a:path>
              </a:pathLst>
            </a:custGeom>
            <a:solidFill>
              <a:srgbClr val="0E4714"/>
            </a:solidFill>
          </p:spPr>
        </p:sp>
      </p:grpSp>
      <p:grpSp>
        <p:nvGrpSpPr>
          <p:cNvPr id="7" name="Group 7"/>
          <p:cNvGrpSpPr/>
          <p:nvPr/>
        </p:nvGrpSpPr>
        <p:grpSpPr>
          <a:xfrm>
            <a:off x="2077348" y="2597852"/>
            <a:ext cx="4014044" cy="964470"/>
            <a:chOff x="0" y="0"/>
            <a:chExt cx="5352058" cy="1285960"/>
          </a:xfrm>
        </p:grpSpPr>
        <p:sp>
          <p:nvSpPr>
            <p:cNvPr id="8" name="Freeform 8"/>
            <p:cNvSpPr/>
            <p:nvPr/>
          </p:nvSpPr>
          <p:spPr>
            <a:xfrm>
              <a:off x="0" y="0"/>
              <a:ext cx="5352058" cy="1285960"/>
            </a:xfrm>
            <a:custGeom>
              <a:avLst/>
              <a:gdLst/>
              <a:ahLst/>
              <a:cxnLst/>
              <a:rect l="l" t="t" r="r" b="b"/>
              <a:pathLst>
                <a:path w="5352058" h="1285960">
                  <a:moveTo>
                    <a:pt x="0" y="0"/>
                  </a:moveTo>
                  <a:lnTo>
                    <a:pt x="5352058" y="0"/>
                  </a:lnTo>
                  <a:lnTo>
                    <a:pt x="5352058" y="1285960"/>
                  </a:lnTo>
                  <a:lnTo>
                    <a:pt x="0" y="1285960"/>
                  </a:lnTo>
                  <a:close/>
                </a:path>
              </a:pathLst>
            </a:custGeom>
            <a:solidFill>
              <a:srgbClr val="000000">
                <a:alpha val="0"/>
              </a:srgbClr>
            </a:solidFill>
          </p:spPr>
        </p:sp>
        <p:sp>
          <p:nvSpPr>
            <p:cNvPr id="9" name="TextBox 9"/>
            <p:cNvSpPr txBox="1"/>
            <p:nvPr/>
          </p:nvSpPr>
          <p:spPr>
            <a:xfrm>
              <a:off x="0" y="-19050"/>
              <a:ext cx="5352058" cy="1305010"/>
            </a:xfrm>
            <a:prstGeom prst="rect">
              <a:avLst/>
            </a:prstGeom>
          </p:spPr>
          <p:txBody>
            <a:bodyPr lIns="0" tIns="0" rIns="0" bIns="0" rtlCol="0" anchor="t"/>
            <a:lstStyle/>
            <a:p>
              <a:pPr algn="l">
                <a:lnSpc>
                  <a:spcPts val="3437"/>
                </a:lnSpc>
              </a:pPr>
              <a:r>
                <a:rPr lang="en-US" sz="2750" b="1">
                  <a:solidFill>
                    <a:srgbClr val="C4CDBD"/>
                  </a:solidFill>
                  <a:latin typeface="Gotham Bold"/>
                  <a:ea typeface="Gotham Bold"/>
                  <a:cs typeface="Gotham Bold"/>
                  <a:sym typeface="Gotham Bold"/>
                </a:rPr>
                <a:t>Predictive Maintenance</a:t>
              </a:r>
            </a:p>
          </p:txBody>
        </p:sp>
      </p:grpSp>
      <p:grpSp>
        <p:nvGrpSpPr>
          <p:cNvPr id="10" name="Group 10"/>
          <p:cNvGrpSpPr/>
          <p:nvPr/>
        </p:nvGrpSpPr>
        <p:grpSpPr>
          <a:xfrm>
            <a:off x="2077348" y="3653787"/>
            <a:ext cx="4014044" cy="2268141"/>
            <a:chOff x="0" y="0"/>
            <a:chExt cx="5352058" cy="3024188"/>
          </a:xfrm>
        </p:grpSpPr>
        <p:sp>
          <p:nvSpPr>
            <p:cNvPr id="11" name="Freeform 11"/>
            <p:cNvSpPr/>
            <p:nvPr/>
          </p:nvSpPr>
          <p:spPr>
            <a:xfrm>
              <a:off x="0" y="0"/>
              <a:ext cx="5352058" cy="3024188"/>
            </a:xfrm>
            <a:custGeom>
              <a:avLst/>
              <a:gdLst/>
              <a:ahLst/>
              <a:cxnLst/>
              <a:rect l="l" t="t" r="r" b="b"/>
              <a:pathLst>
                <a:path w="5352058" h="3024188">
                  <a:moveTo>
                    <a:pt x="0" y="0"/>
                  </a:moveTo>
                  <a:lnTo>
                    <a:pt x="5352058" y="0"/>
                  </a:lnTo>
                  <a:lnTo>
                    <a:pt x="5352058" y="3024188"/>
                  </a:lnTo>
                  <a:lnTo>
                    <a:pt x="0" y="3024188"/>
                  </a:lnTo>
                  <a:close/>
                </a:path>
              </a:pathLst>
            </a:custGeom>
            <a:solidFill>
              <a:srgbClr val="000000">
                <a:alpha val="0"/>
              </a:srgbClr>
            </a:solidFill>
          </p:spPr>
        </p:sp>
        <p:sp>
          <p:nvSpPr>
            <p:cNvPr id="12" name="TextBox 12"/>
            <p:cNvSpPr txBox="1"/>
            <p:nvPr/>
          </p:nvSpPr>
          <p:spPr>
            <a:xfrm>
              <a:off x="0" y="-95250"/>
              <a:ext cx="5352058" cy="3119438"/>
            </a:xfrm>
            <a:prstGeom prst="rect">
              <a:avLst/>
            </a:prstGeom>
          </p:spPr>
          <p:txBody>
            <a:bodyPr lIns="0" tIns="0" rIns="0" bIns="0" rtlCol="0" anchor="t"/>
            <a:lstStyle/>
            <a:p>
              <a:pPr algn="l">
                <a:lnSpc>
                  <a:spcPts val="3562"/>
                </a:lnSpc>
              </a:pPr>
              <a:r>
                <a:rPr lang="en-US" sz="2187" spc="-32">
                  <a:solidFill>
                    <a:srgbClr val="C4CDBD"/>
                  </a:solidFill>
                  <a:latin typeface="Gotham"/>
                  <a:ea typeface="Gotham"/>
                  <a:cs typeface="Gotham"/>
                  <a:sym typeface="Gotham"/>
                </a:rPr>
                <a:t>Reduce downtime and improve application availability by proactively addressing potential failures before they occur.</a:t>
              </a:r>
            </a:p>
          </p:txBody>
        </p:sp>
      </p:grpSp>
      <p:grpSp>
        <p:nvGrpSpPr>
          <p:cNvPr id="13" name="Group 13"/>
          <p:cNvGrpSpPr/>
          <p:nvPr/>
        </p:nvGrpSpPr>
        <p:grpSpPr>
          <a:xfrm>
            <a:off x="10087461" y="2334696"/>
            <a:ext cx="4581079" cy="4355455"/>
            <a:chOff x="0" y="0"/>
            <a:chExt cx="6108105" cy="5807273"/>
          </a:xfrm>
        </p:grpSpPr>
        <p:sp>
          <p:nvSpPr>
            <p:cNvPr id="14" name="Freeform 14"/>
            <p:cNvSpPr/>
            <p:nvPr/>
          </p:nvSpPr>
          <p:spPr>
            <a:xfrm>
              <a:off x="0" y="0"/>
              <a:ext cx="6108065" cy="5807202"/>
            </a:xfrm>
            <a:custGeom>
              <a:avLst/>
              <a:gdLst/>
              <a:ahLst/>
              <a:cxnLst/>
              <a:rect l="l" t="t" r="r" b="b"/>
              <a:pathLst>
                <a:path w="6108065" h="5807202">
                  <a:moveTo>
                    <a:pt x="0" y="56642"/>
                  </a:moveTo>
                  <a:cubicBezTo>
                    <a:pt x="0" y="25400"/>
                    <a:pt x="25400" y="0"/>
                    <a:pt x="56642" y="0"/>
                  </a:cubicBezTo>
                  <a:lnTo>
                    <a:pt x="6051423" y="0"/>
                  </a:lnTo>
                  <a:cubicBezTo>
                    <a:pt x="6082665" y="0"/>
                    <a:pt x="6108065" y="25400"/>
                    <a:pt x="6108065" y="56642"/>
                  </a:cubicBezTo>
                  <a:lnTo>
                    <a:pt x="6108065" y="5750560"/>
                  </a:lnTo>
                  <a:cubicBezTo>
                    <a:pt x="6108065" y="5781802"/>
                    <a:pt x="6082665" y="5807202"/>
                    <a:pt x="6051423" y="5807202"/>
                  </a:cubicBezTo>
                  <a:lnTo>
                    <a:pt x="56642" y="5807202"/>
                  </a:lnTo>
                  <a:cubicBezTo>
                    <a:pt x="25400" y="5807202"/>
                    <a:pt x="0" y="5781802"/>
                    <a:pt x="0" y="5750560"/>
                  </a:cubicBezTo>
                  <a:close/>
                </a:path>
              </a:pathLst>
            </a:custGeom>
            <a:solidFill>
              <a:srgbClr val="0E4714"/>
            </a:solidFill>
          </p:spPr>
        </p:sp>
      </p:grpSp>
      <p:grpSp>
        <p:nvGrpSpPr>
          <p:cNvPr id="15" name="Group 15"/>
          <p:cNvGrpSpPr/>
          <p:nvPr/>
        </p:nvGrpSpPr>
        <p:grpSpPr>
          <a:xfrm>
            <a:off x="10370979" y="2618214"/>
            <a:ext cx="3544044" cy="535845"/>
            <a:chOff x="0" y="0"/>
            <a:chExt cx="4725392" cy="714460"/>
          </a:xfrm>
        </p:grpSpPr>
        <p:sp>
          <p:nvSpPr>
            <p:cNvPr id="16" name="Freeform 16"/>
            <p:cNvSpPr/>
            <p:nvPr/>
          </p:nvSpPr>
          <p:spPr>
            <a:xfrm>
              <a:off x="0" y="0"/>
              <a:ext cx="4725392" cy="714460"/>
            </a:xfrm>
            <a:custGeom>
              <a:avLst/>
              <a:gdLst/>
              <a:ahLst/>
              <a:cxnLst/>
              <a:rect l="l" t="t" r="r" b="b"/>
              <a:pathLst>
                <a:path w="4725392" h="714460">
                  <a:moveTo>
                    <a:pt x="0" y="0"/>
                  </a:moveTo>
                  <a:lnTo>
                    <a:pt x="4725392" y="0"/>
                  </a:lnTo>
                  <a:lnTo>
                    <a:pt x="4725392" y="714460"/>
                  </a:lnTo>
                  <a:lnTo>
                    <a:pt x="0" y="714460"/>
                  </a:lnTo>
                  <a:close/>
                </a:path>
              </a:pathLst>
            </a:custGeom>
            <a:solidFill>
              <a:srgbClr val="000000">
                <a:alpha val="0"/>
              </a:srgbClr>
            </a:solidFill>
          </p:spPr>
        </p:sp>
        <p:sp>
          <p:nvSpPr>
            <p:cNvPr id="17" name="TextBox 17"/>
            <p:cNvSpPr txBox="1"/>
            <p:nvPr/>
          </p:nvSpPr>
          <p:spPr>
            <a:xfrm>
              <a:off x="0" y="-19050"/>
              <a:ext cx="4725392" cy="733510"/>
            </a:xfrm>
            <a:prstGeom prst="rect">
              <a:avLst/>
            </a:prstGeom>
          </p:spPr>
          <p:txBody>
            <a:bodyPr lIns="0" tIns="0" rIns="0" bIns="0" rtlCol="0" anchor="t"/>
            <a:lstStyle/>
            <a:p>
              <a:pPr algn="l">
                <a:lnSpc>
                  <a:spcPts val="3437"/>
                </a:lnSpc>
              </a:pPr>
              <a:r>
                <a:rPr lang="en-US" sz="2750" b="1">
                  <a:solidFill>
                    <a:srgbClr val="C4CDBD"/>
                  </a:solidFill>
                  <a:latin typeface="Gotham Bold"/>
                  <a:ea typeface="Gotham Bold"/>
                  <a:cs typeface="Gotham Bold"/>
                  <a:sym typeface="Gotham Bold"/>
                </a:rPr>
                <a:t>Explainable AI</a:t>
              </a:r>
            </a:p>
          </p:txBody>
        </p:sp>
      </p:grpSp>
      <p:grpSp>
        <p:nvGrpSpPr>
          <p:cNvPr id="18" name="Group 18"/>
          <p:cNvGrpSpPr/>
          <p:nvPr/>
        </p:nvGrpSpPr>
        <p:grpSpPr>
          <a:xfrm>
            <a:off x="10370979" y="3027461"/>
            <a:ext cx="4014044" cy="3561517"/>
            <a:chOff x="0" y="0"/>
            <a:chExt cx="5352058" cy="4748689"/>
          </a:xfrm>
        </p:grpSpPr>
        <p:sp>
          <p:nvSpPr>
            <p:cNvPr id="19" name="Freeform 19"/>
            <p:cNvSpPr/>
            <p:nvPr/>
          </p:nvSpPr>
          <p:spPr>
            <a:xfrm>
              <a:off x="0" y="0"/>
              <a:ext cx="5352058" cy="4748689"/>
            </a:xfrm>
            <a:custGeom>
              <a:avLst/>
              <a:gdLst/>
              <a:ahLst/>
              <a:cxnLst/>
              <a:rect l="l" t="t" r="r" b="b"/>
              <a:pathLst>
                <a:path w="5352058" h="4748689">
                  <a:moveTo>
                    <a:pt x="0" y="0"/>
                  </a:moveTo>
                  <a:lnTo>
                    <a:pt x="5352058" y="0"/>
                  </a:lnTo>
                  <a:lnTo>
                    <a:pt x="5352058" y="4748689"/>
                  </a:lnTo>
                  <a:lnTo>
                    <a:pt x="0" y="4748689"/>
                  </a:lnTo>
                  <a:close/>
                </a:path>
              </a:pathLst>
            </a:custGeom>
            <a:solidFill>
              <a:srgbClr val="000000">
                <a:alpha val="0"/>
              </a:srgbClr>
            </a:solidFill>
          </p:spPr>
        </p:sp>
        <p:sp>
          <p:nvSpPr>
            <p:cNvPr id="20" name="TextBox 20"/>
            <p:cNvSpPr txBox="1"/>
            <p:nvPr/>
          </p:nvSpPr>
          <p:spPr>
            <a:xfrm>
              <a:off x="0" y="-95250"/>
              <a:ext cx="5352058" cy="4843939"/>
            </a:xfrm>
            <a:prstGeom prst="rect">
              <a:avLst/>
            </a:prstGeom>
          </p:spPr>
          <p:txBody>
            <a:bodyPr lIns="0" tIns="0" rIns="0" bIns="0" rtlCol="0" anchor="t"/>
            <a:lstStyle/>
            <a:p>
              <a:pPr algn="l">
                <a:lnSpc>
                  <a:spcPts val="3562"/>
                </a:lnSpc>
              </a:pPr>
              <a:r>
                <a:rPr lang="en-US" sz="2187" spc="-32">
                  <a:solidFill>
                    <a:srgbClr val="C4CDBD"/>
                  </a:solidFill>
                  <a:latin typeface="Gotham"/>
                  <a:ea typeface="Gotham"/>
                  <a:cs typeface="Gotham"/>
                  <a:sym typeface="Gotham"/>
                </a:rPr>
                <a:t>Understand why the model predicts a failure, enabling targeted troubleshooting and more effective problem resolution. Feature importance plots highlight key metrics driving predictions.</a:t>
              </a:r>
            </a:p>
          </p:txBody>
        </p:sp>
      </p:grpSp>
      <p:grpSp>
        <p:nvGrpSpPr>
          <p:cNvPr id="21" name="Group 21"/>
          <p:cNvGrpSpPr/>
          <p:nvPr/>
        </p:nvGrpSpPr>
        <p:grpSpPr>
          <a:xfrm>
            <a:off x="1028700" y="7154030"/>
            <a:ext cx="14722826" cy="2087315"/>
            <a:chOff x="0" y="0"/>
            <a:chExt cx="19630434" cy="2783087"/>
          </a:xfrm>
        </p:grpSpPr>
        <p:sp>
          <p:nvSpPr>
            <p:cNvPr id="22" name="Freeform 22"/>
            <p:cNvSpPr/>
            <p:nvPr/>
          </p:nvSpPr>
          <p:spPr>
            <a:xfrm>
              <a:off x="0" y="0"/>
              <a:ext cx="19630481" cy="2783078"/>
            </a:xfrm>
            <a:custGeom>
              <a:avLst/>
              <a:gdLst/>
              <a:ahLst/>
              <a:cxnLst/>
              <a:rect l="l" t="t" r="r" b="b"/>
              <a:pathLst>
                <a:path w="19630481" h="2783078">
                  <a:moveTo>
                    <a:pt x="0" y="56769"/>
                  </a:moveTo>
                  <a:cubicBezTo>
                    <a:pt x="0" y="25400"/>
                    <a:pt x="39591" y="0"/>
                    <a:pt x="88486" y="0"/>
                  </a:cubicBezTo>
                  <a:lnTo>
                    <a:pt x="19542021" y="0"/>
                  </a:lnTo>
                  <a:cubicBezTo>
                    <a:pt x="19590916" y="0"/>
                    <a:pt x="19630481" y="25400"/>
                    <a:pt x="19630481" y="56769"/>
                  </a:cubicBezTo>
                  <a:lnTo>
                    <a:pt x="19630481" y="2726309"/>
                  </a:lnTo>
                  <a:cubicBezTo>
                    <a:pt x="19630481" y="2757678"/>
                    <a:pt x="19590916" y="2783078"/>
                    <a:pt x="19542021" y="2783078"/>
                  </a:cubicBezTo>
                  <a:lnTo>
                    <a:pt x="88486" y="2783078"/>
                  </a:lnTo>
                  <a:cubicBezTo>
                    <a:pt x="39591" y="2783078"/>
                    <a:pt x="0" y="2757678"/>
                    <a:pt x="0" y="2726309"/>
                  </a:cubicBezTo>
                  <a:close/>
                </a:path>
              </a:pathLst>
            </a:custGeom>
            <a:solidFill>
              <a:srgbClr val="0E4714"/>
            </a:solidFill>
          </p:spPr>
        </p:sp>
      </p:grpSp>
      <p:grpSp>
        <p:nvGrpSpPr>
          <p:cNvPr id="23" name="Group 23"/>
          <p:cNvGrpSpPr/>
          <p:nvPr/>
        </p:nvGrpSpPr>
        <p:grpSpPr>
          <a:xfrm>
            <a:off x="5715001" y="7233218"/>
            <a:ext cx="4720679" cy="964470"/>
            <a:chOff x="0" y="0"/>
            <a:chExt cx="6294238" cy="1285960"/>
          </a:xfrm>
        </p:grpSpPr>
        <p:sp>
          <p:nvSpPr>
            <p:cNvPr id="24" name="Freeform 24"/>
            <p:cNvSpPr/>
            <p:nvPr/>
          </p:nvSpPr>
          <p:spPr>
            <a:xfrm>
              <a:off x="0" y="0"/>
              <a:ext cx="6294238" cy="1285960"/>
            </a:xfrm>
            <a:custGeom>
              <a:avLst/>
              <a:gdLst/>
              <a:ahLst/>
              <a:cxnLst/>
              <a:rect l="l" t="t" r="r" b="b"/>
              <a:pathLst>
                <a:path w="6294238" h="1285960">
                  <a:moveTo>
                    <a:pt x="0" y="0"/>
                  </a:moveTo>
                  <a:lnTo>
                    <a:pt x="6294238" y="0"/>
                  </a:lnTo>
                  <a:lnTo>
                    <a:pt x="6294238" y="1285960"/>
                  </a:lnTo>
                  <a:lnTo>
                    <a:pt x="0" y="1285960"/>
                  </a:lnTo>
                  <a:close/>
                </a:path>
              </a:pathLst>
            </a:custGeom>
            <a:solidFill>
              <a:srgbClr val="000000">
                <a:alpha val="0"/>
              </a:srgbClr>
            </a:solidFill>
          </p:spPr>
        </p:sp>
        <p:sp>
          <p:nvSpPr>
            <p:cNvPr id="25" name="TextBox 25"/>
            <p:cNvSpPr txBox="1"/>
            <p:nvPr/>
          </p:nvSpPr>
          <p:spPr>
            <a:xfrm>
              <a:off x="0" y="-19050"/>
              <a:ext cx="6294238" cy="1305010"/>
            </a:xfrm>
            <a:prstGeom prst="rect">
              <a:avLst/>
            </a:prstGeom>
          </p:spPr>
          <p:txBody>
            <a:bodyPr lIns="0" tIns="0" rIns="0" bIns="0" rtlCol="0" anchor="t"/>
            <a:lstStyle/>
            <a:p>
              <a:pPr algn="ctr">
                <a:lnSpc>
                  <a:spcPts val="3437"/>
                </a:lnSpc>
              </a:pPr>
              <a:r>
                <a:rPr lang="en-US" sz="2750" b="1">
                  <a:solidFill>
                    <a:srgbClr val="C4CDBD"/>
                  </a:solidFill>
                  <a:latin typeface="Gotham Bold"/>
                  <a:ea typeface="Gotham Bold"/>
                  <a:cs typeface="Gotham Bold"/>
                  <a:sym typeface="Gotham Bold"/>
                </a:rPr>
                <a:t>Automated Data Processing</a:t>
              </a:r>
            </a:p>
          </p:txBody>
        </p:sp>
      </p:grpSp>
      <p:grpSp>
        <p:nvGrpSpPr>
          <p:cNvPr id="26" name="Group 26"/>
          <p:cNvGrpSpPr/>
          <p:nvPr/>
        </p:nvGrpSpPr>
        <p:grpSpPr>
          <a:xfrm>
            <a:off x="3636094" y="8118500"/>
            <a:ext cx="8878491" cy="907256"/>
            <a:chOff x="0" y="0"/>
            <a:chExt cx="11837988" cy="1209675"/>
          </a:xfrm>
        </p:grpSpPr>
        <p:sp>
          <p:nvSpPr>
            <p:cNvPr id="27" name="Freeform 27"/>
            <p:cNvSpPr/>
            <p:nvPr/>
          </p:nvSpPr>
          <p:spPr>
            <a:xfrm>
              <a:off x="0" y="0"/>
              <a:ext cx="11837988" cy="1209675"/>
            </a:xfrm>
            <a:custGeom>
              <a:avLst/>
              <a:gdLst/>
              <a:ahLst/>
              <a:cxnLst/>
              <a:rect l="l" t="t" r="r" b="b"/>
              <a:pathLst>
                <a:path w="11837988" h="1209675">
                  <a:moveTo>
                    <a:pt x="0" y="0"/>
                  </a:moveTo>
                  <a:lnTo>
                    <a:pt x="11837988" y="0"/>
                  </a:lnTo>
                  <a:lnTo>
                    <a:pt x="11837988" y="1209675"/>
                  </a:lnTo>
                  <a:lnTo>
                    <a:pt x="0" y="1209675"/>
                  </a:lnTo>
                  <a:close/>
                </a:path>
              </a:pathLst>
            </a:custGeom>
            <a:solidFill>
              <a:srgbClr val="000000">
                <a:alpha val="0"/>
              </a:srgbClr>
            </a:solidFill>
          </p:spPr>
        </p:sp>
        <p:sp>
          <p:nvSpPr>
            <p:cNvPr id="28" name="TextBox 28"/>
            <p:cNvSpPr txBox="1"/>
            <p:nvPr/>
          </p:nvSpPr>
          <p:spPr>
            <a:xfrm>
              <a:off x="0" y="-95250"/>
              <a:ext cx="11837988" cy="1304925"/>
            </a:xfrm>
            <a:prstGeom prst="rect">
              <a:avLst/>
            </a:prstGeom>
          </p:spPr>
          <p:txBody>
            <a:bodyPr lIns="0" tIns="0" rIns="0" bIns="0" rtlCol="0" anchor="t"/>
            <a:lstStyle/>
            <a:p>
              <a:pPr algn="ctr">
                <a:lnSpc>
                  <a:spcPts val="3562"/>
                </a:lnSpc>
              </a:pPr>
              <a:r>
                <a:rPr lang="en-US" sz="2187" spc="-32">
                  <a:solidFill>
                    <a:srgbClr val="C4CDBD"/>
                  </a:solidFill>
                  <a:latin typeface="Gotham"/>
                  <a:ea typeface="Gotham"/>
                  <a:cs typeface="Gotham"/>
                  <a:sym typeface="Gotham"/>
                </a:rPr>
                <a:t>Streamlines data collection, preprocessing, and model training, reducing manual effort and improving efficiency.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5370016" y="612279"/>
            <a:ext cx="7157442" cy="832842"/>
            <a:chOff x="0" y="0"/>
            <a:chExt cx="9543257" cy="1110456"/>
          </a:xfrm>
        </p:grpSpPr>
        <p:sp>
          <p:nvSpPr>
            <p:cNvPr id="3" name="Freeform 3"/>
            <p:cNvSpPr/>
            <p:nvPr/>
          </p:nvSpPr>
          <p:spPr>
            <a:xfrm>
              <a:off x="0" y="0"/>
              <a:ext cx="9543257" cy="1110456"/>
            </a:xfrm>
            <a:custGeom>
              <a:avLst/>
              <a:gdLst/>
              <a:ahLst/>
              <a:cxnLst/>
              <a:rect l="l" t="t" r="r" b="b"/>
              <a:pathLst>
                <a:path w="9543257" h="1110456">
                  <a:moveTo>
                    <a:pt x="0" y="0"/>
                  </a:moveTo>
                  <a:lnTo>
                    <a:pt x="9543257" y="0"/>
                  </a:lnTo>
                  <a:lnTo>
                    <a:pt x="9543257" y="1110456"/>
                  </a:lnTo>
                  <a:lnTo>
                    <a:pt x="0" y="1110456"/>
                  </a:lnTo>
                  <a:close/>
                </a:path>
              </a:pathLst>
            </a:custGeom>
            <a:solidFill>
              <a:srgbClr val="000000">
                <a:alpha val="0"/>
              </a:srgbClr>
            </a:solidFill>
          </p:spPr>
        </p:sp>
        <p:sp>
          <p:nvSpPr>
            <p:cNvPr id="4" name="TextBox 4"/>
            <p:cNvSpPr txBox="1"/>
            <p:nvPr/>
          </p:nvSpPr>
          <p:spPr>
            <a:xfrm>
              <a:off x="0" y="-114300"/>
              <a:ext cx="9543257" cy="1224756"/>
            </a:xfrm>
            <a:prstGeom prst="rect">
              <a:avLst/>
            </a:prstGeom>
          </p:spPr>
          <p:txBody>
            <a:bodyPr lIns="0" tIns="0" rIns="0" bIns="0" rtlCol="0" anchor="t"/>
            <a:lstStyle/>
            <a:p>
              <a:pPr algn="ctr">
                <a:lnSpc>
                  <a:spcPts val="5812"/>
                </a:lnSpc>
              </a:pPr>
              <a:r>
                <a:rPr lang="en-US" sz="4687" i="1" spc="-89">
                  <a:solidFill>
                    <a:srgbClr val="749073"/>
                  </a:solidFill>
                  <a:latin typeface="Times New Roman Condensed Italics"/>
                  <a:ea typeface="Times New Roman Condensed Italics"/>
                  <a:cs typeface="Times New Roman Condensed Italics"/>
                  <a:sym typeface="Times New Roman Condensed Italics"/>
                </a:rPr>
                <a:t>Data Processing Pipeline</a:t>
              </a:r>
            </a:p>
          </p:txBody>
        </p:sp>
      </p:grpSp>
      <p:sp>
        <p:nvSpPr>
          <p:cNvPr id="5" name="Freeform 5" descr="preencoded.png"/>
          <p:cNvSpPr/>
          <p:nvPr/>
        </p:nvSpPr>
        <p:spPr>
          <a:xfrm>
            <a:off x="835372" y="1799332"/>
            <a:ext cx="1193304" cy="1757065"/>
          </a:xfrm>
          <a:custGeom>
            <a:avLst/>
            <a:gdLst/>
            <a:ahLst/>
            <a:cxnLst/>
            <a:rect l="l" t="t" r="r" b="b"/>
            <a:pathLst>
              <a:path w="1193304" h="1757065">
                <a:moveTo>
                  <a:pt x="0" y="0"/>
                </a:moveTo>
                <a:lnTo>
                  <a:pt x="1193304" y="0"/>
                </a:lnTo>
                <a:lnTo>
                  <a:pt x="1193304" y="1757066"/>
                </a:lnTo>
                <a:lnTo>
                  <a:pt x="0" y="1757066"/>
                </a:lnTo>
                <a:lnTo>
                  <a:pt x="0" y="0"/>
                </a:lnTo>
                <a:close/>
              </a:path>
            </a:pathLst>
          </a:custGeom>
          <a:blipFill>
            <a:blip r:embed="rId2"/>
            <a:stretch>
              <a:fillRect l="-14" r="-14"/>
            </a:stretch>
          </a:blipFill>
        </p:spPr>
      </p:sp>
      <p:grpSp>
        <p:nvGrpSpPr>
          <p:cNvPr id="6" name="Group 6"/>
          <p:cNvGrpSpPr/>
          <p:nvPr/>
        </p:nvGrpSpPr>
        <p:grpSpPr>
          <a:xfrm>
            <a:off x="2386608" y="2037904"/>
            <a:ext cx="2983409" cy="454096"/>
            <a:chOff x="0" y="0"/>
            <a:chExt cx="3977878" cy="605462"/>
          </a:xfrm>
        </p:grpSpPr>
        <p:sp>
          <p:nvSpPr>
            <p:cNvPr id="7" name="Freeform 7"/>
            <p:cNvSpPr/>
            <p:nvPr/>
          </p:nvSpPr>
          <p:spPr>
            <a:xfrm>
              <a:off x="0" y="0"/>
              <a:ext cx="3977879" cy="605462"/>
            </a:xfrm>
            <a:custGeom>
              <a:avLst/>
              <a:gdLst/>
              <a:ahLst/>
              <a:cxnLst/>
              <a:rect l="l" t="t" r="r" b="b"/>
              <a:pathLst>
                <a:path w="3977879" h="605462">
                  <a:moveTo>
                    <a:pt x="0" y="0"/>
                  </a:moveTo>
                  <a:lnTo>
                    <a:pt x="3977879" y="0"/>
                  </a:lnTo>
                  <a:lnTo>
                    <a:pt x="3977879" y="605462"/>
                  </a:lnTo>
                  <a:lnTo>
                    <a:pt x="0" y="605462"/>
                  </a:lnTo>
                  <a:close/>
                </a:path>
              </a:pathLst>
            </a:custGeom>
            <a:solidFill>
              <a:srgbClr val="000000">
                <a:alpha val="0"/>
              </a:srgbClr>
            </a:solidFill>
          </p:spPr>
        </p:sp>
        <p:sp>
          <p:nvSpPr>
            <p:cNvPr id="8" name="TextBox 8"/>
            <p:cNvSpPr txBox="1"/>
            <p:nvPr/>
          </p:nvSpPr>
          <p:spPr>
            <a:xfrm>
              <a:off x="0" y="-9525"/>
              <a:ext cx="3977878" cy="614987"/>
            </a:xfrm>
            <a:prstGeom prst="rect">
              <a:avLst/>
            </a:prstGeom>
          </p:spPr>
          <p:txBody>
            <a:bodyPr lIns="0" tIns="0" rIns="0" bIns="0" rtlCol="0" anchor="t"/>
            <a:lstStyle/>
            <a:p>
              <a:pPr algn="l">
                <a:lnSpc>
                  <a:spcPts val="2875"/>
                </a:lnSpc>
              </a:pPr>
              <a:r>
                <a:rPr lang="en-US" sz="2312" b="1">
                  <a:solidFill>
                    <a:srgbClr val="0E4714"/>
                  </a:solidFill>
                  <a:latin typeface="Gotham Bold"/>
                  <a:ea typeface="Gotham Bold"/>
                  <a:cs typeface="Gotham Bold"/>
                  <a:sym typeface="Gotham Bold"/>
                </a:rPr>
                <a:t>Preprocessing</a:t>
              </a:r>
            </a:p>
          </p:txBody>
        </p:sp>
      </p:grpSp>
      <p:grpSp>
        <p:nvGrpSpPr>
          <p:cNvPr id="9" name="Group 9"/>
          <p:cNvGrpSpPr/>
          <p:nvPr/>
        </p:nvGrpSpPr>
        <p:grpSpPr>
          <a:xfrm>
            <a:off x="2386607" y="2554040"/>
            <a:ext cx="8208020" cy="763786"/>
            <a:chOff x="0" y="0"/>
            <a:chExt cx="10944027" cy="1018382"/>
          </a:xfrm>
        </p:grpSpPr>
        <p:sp>
          <p:nvSpPr>
            <p:cNvPr id="10" name="Freeform 10"/>
            <p:cNvSpPr/>
            <p:nvPr/>
          </p:nvSpPr>
          <p:spPr>
            <a:xfrm>
              <a:off x="0" y="0"/>
              <a:ext cx="10944027" cy="1018382"/>
            </a:xfrm>
            <a:custGeom>
              <a:avLst/>
              <a:gdLst/>
              <a:ahLst/>
              <a:cxnLst/>
              <a:rect l="l" t="t" r="r" b="b"/>
              <a:pathLst>
                <a:path w="10944027" h="1018382">
                  <a:moveTo>
                    <a:pt x="0" y="0"/>
                  </a:moveTo>
                  <a:lnTo>
                    <a:pt x="10944027" y="0"/>
                  </a:lnTo>
                  <a:lnTo>
                    <a:pt x="10944027" y="1018382"/>
                  </a:lnTo>
                  <a:lnTo>
                    <a:pt x="0" y="1018382"/>
                  </a:lnTo>
                  <a:close/>
                </a:path>
              </a:pathLst>
            </a:custGeom>
            <a:solidFill>
              <a:srgbClr val="000000">
                <a:alpha val="0"/>
              </a:srgbClr>
            </a:solidFill>
          </p:spPr>
        </p:sp>
        <p:sp>
          <p:nvSpPr>
            <p:cNvPr id="11" name="TextBox 11"/>
            <p:cNvSpPr txBox="1"/>
            <p:nvPr/>
          </p:nvSpPr>
          <p:spPr>
            <a:xfrm>
              <a:off x="0" y="-85725"/>
              <a:ext cx="10944027" cy="1104107"/>
            </a:xfrm>
            <a:prstGeom prst="rect">
              <a:avLst/>
            </a:prstGeom>
          </p:spPr>
          <p:txBody>
            <a:bodyPr lIns="0" tIns="0" rIns="0" bIns="0" rtlCol="0" anchor="t"/>
            <a:lstStyle/>
            <a:p>
              <a:pPr algn="l">
                <a:lnSpc>
                  <a:spcPts val="3000"/>
                </a:lnSpc>
              </a:pPr>
              <a:r>
                <a:rPr lang="en-US" sz="1874" spc="-28">
                  <a:solidFill>
                    <a:srgbClr val="0E4714"/>
                  </a:solidFill>
                  <a:latin typeface="Gotham"/>
                  <a:ea typeface="Gotham"/>
                  <a:cs typeface="Gotham"/>
                  <a:sym typeface="Gotham"/>
                </a:rPr>
                <a:t>Handles missing values, performs outlier detection and treatment, and applies data normalization techniques to ensure data quality.</a:t>
              </a:r>
            </a:p>
          </p:txBody>
        </p:sp>
      </p:grpSp>
      <p:sp>
        <p:nvSpPr>
          <p:cNvPr id="12" name="Freeform 12" descr="preencoded.png"/>
          <p:cNvSpPr/>
          <p:nvPr/>
        </p:nvSpPr>
        <p:spPr>
          <a:xfrm>
            <a:off x="835372" y="3556397"/>
            <a:ext cx="1193304" cy="2138957"/>
          </a:xfrm>
          <a:custGeom>
            <a:avLst/>
            <a:gdLst/>
            <a:ahLst/>
            <a:cxnLst/>
            <a:rect l="l" t="t" r="r" b="b"/>
            <a:pathLst>
              <a:path w="1193304" h="2138957">
                <a:moveTo>
                  <a:pt x="0" y="0"/>
                </a:moveTo>
                <a:lnTo>
                  <a:pt x="1193304" y="0"/>
                </a:lnTo>
                <a:lnTo>
                  <a:pt x="1193304" y="2138958"/>
                </a:lnTo>
                <a:lnTo>
                  <a:pt x="0" y="2138958"/>
                </a:lnTo>
                <a:lnTo>
                  <a:pt x="0" y="0"/>
                </a:lnTo>
                <a:close/>
              </a:path>
            </a:pathLst>
          </a:custGeom>
          <a:blipFill>
            <a:blip r:embed="rId3"/>
            <a:stretch>
              <a:fillRect t="-210" b="-210"/>
            </a:stretch>
          </a:blipFill>
        </p:spPr>
      </p:sp>
      <p:grpSp>
        <p:nvGrpSpPr>
          <p:cNvPr id="13" name="Group 13"/>
          <p:cNvGrpSpPr/>
          <p:nvPr/>
        </p:nvGrpSpPr>
        <p:grpSpPr>
          <a:xfrm>
            <a:off x="2386608" y="3669857"/>
            <a:ext cx="2983409" cy="816046"/>
            <a:chOff x="0" y="0"/>
            <a:chExt cx="3977878" cy="1088062"/>
          </a:xfrm>
        </p:grpSpPr>
        <p:sp>
          <p:nvSpPr>
            <p:cNvPr id="14" name="Freeform 14"/>
            <p:cNvSpPr/>
            <p:nvPr/>
          </p:nvSpPr>
          <p:spPr>
            <a:xfrm>
              <a:off x="0" y="0"/>
              <a:ext cx="3977879" cy="1088062"/>
            </a:xfrm>
            <a:custGeom>
              <a:avLst/>
              <a:gdLst/>
              <a:ahLst/>
              <a:cxnLst/>
              <a:rect l="l" t="t" r="r" b="b"/>
              <a:pathLst>
                <a:path w="3977879" h="1088062">
                  <a:moveTo>
                    <a:pt x="0" y="0"/>
                  </a:moveTo>
                  <a:lnTo>
                    <a:pt x="3977879" y="0"/>
                  </a:lnTo>
                  <a:lnTo>
                    <a:pt x="3977879" y="1088062"/>
                  </a:lnTo>
                  <a:lnTo>
                    <a:pt x="0" y="1088062"/>
                  </a:lnTo>
                  <a:close/>
                </a:path>
              </a:pathLst>
            </a:custGeom>
            <a:solidFill>
              <a:srgbClr val="000000">
                <a:alpha val="0"/>
              </a:srgbClr>
            </a:solidFill>
          </p:spPr>
        </p:sp>
        <p:sp>
          <p:nvSpPr>
            <p:cNvPr id="15" name="TextBox 15"/>
            <p:cNvSpPr txBox="1"/>
            <p:nvPr/>
          </p:nvSpPr>
          <p:spPr>
            <a:xfrm>
              <a:off x="0" y="-9525"/>
              <a:ext cx="3977878" cy="1097587"/>
            </a:xfrm>
            <a:prstGeom prst="rect">
              <a:avLst/>
            </a:prstGeom>
          </p:spPr>
          <p:txBody>
            <a:bodyPr lIns="0" tIns="0" rIns="0" bIns="0" rtlCol="0" anchor="t"/>
            <a:lstStyle/>
            <a:p>
              <a:pPr algn="l">
                <a:lnSpc>
                  <a:spcPts val="2875"/>
                </a:lnSpc>
              </a:pPr>
              <a:r>
                <a:rPr lang="en-US" sz="2312" b="1">
                  <a:solidFill>
                    <a:srgbClr val="0E4714"/>
                  </a:solidFill>
                  <a:latin typeface="Gotham Bold"/>
                  <a:ea typeface="Gotham Bold"/>
                  <a:cs typeface="Gotham Bold"/>
                  <a:sym typeface="Gotham Bold"/>
                </a:rPr>
                <a:t>Feature Engineering</a:t>
              </a:r>
            </a:p>
          </p:txBody>
        </p:sp>
      </p:grpSp>
      <p:grpSp>
        <p:nvGrpSpPr>
          <p:cNvPr id="16" name="Group 16"/>
          <p:cNvGrpSpPr/>
          <p:nvPr/>
        </p:nvGrpSpPr>
        <p:grpSpPr>
          <a:xfrm>
            <a:off x="2230742" y="4485903"/>
            <a:ext cx="8208020" cy="1145679"/>
            <a:chOff x="0" y="0"/>
            <a:chExt cx="10944027" cy="1527572"/>
          </a:xfrm>
        </p:grpSpPr>
        <p:sp>
          <p:nvSpPr>
            <p:cNvPr id="17" name="Freeform 17"/>
            <p:cNvSpPr/>
            <p:nvPr/>
          </p:nvSpPr>
          <p:spPr>
            <a:xfrm>
              <a:off x="0" y="0"/>
              <a:ext cx="10944027" cy="1527572"/>
            </a:xfrm>
            <a:custGeom>
              <a:avLst/>
              <a:gdLst/>
              <a:ahLst/>
              <a:cxnLst/>
              <a:rect l="l" t="t" r="r" b="b"/>
              <a:pathLst>
                <a:path w="10944027" h="1527572">
                  <a:moveTo>
                    <a:pt x="0" y="0"/>
                  </a:moveTo>
                  <a:lnTo>
                    <a:pt x="10944027" y="0"/>
                  </a:lnTo>
                  <a:lnTo>
                    <a:pt x="10944027" y="1527572"/>
                  </a:lnTo>
                  <a:lnTo>
                    <a:pt x="0" y="1527572"/>
                  </a:lnTo>
                  <a:close/>
                </a:path>
              </a:pathLst>
            </a:custGeom>
            <a:solidFill>
              <a:srgbClr val="000000">
                <a:alpha val="0"/>
              </a:srgbClr>
            </a:solidFill>
          </p:spPr>
        </p:sp>
        <p:sp>
          <p:nvSpPr>
            <p:cNvPr id="18" name="TextBox 18"/>
            <p:cNvSpPr txBox="1"/>
            <p:nvPr/>
          </p:nvSpPr>
          <p:spPr>
            <a:xfrm>
              <a:off x="0" y="-85725"/>
              <a:ext cx="10944027" cy="1613297"/>
            </a:xfrm>
            <a:prstGeom prst="rect">
              <a:avLst/>
            </a:prstGeom>
          </p:spPr>
          <p:txBody>
            <a:bodyPr lIns="0" tIns="0" rIns="0" bIns="0" rtlCol="0" anchor="t"/>
            <a:lstStyle/>
            <a:p>
              <a:pPr algn="l">
                <a:lnSpc>
                  <a:spcPts val="3000"/>
                </a:lnSpc>
              </a:pPr>
              <a:r>
                <a:rPr lang="en-US" sz="1874" spc="-28">
                  <a:solidFill>
                    <a:srgbClr val="0E4714"/>
                  </a:solidFill>
                  <a:latin typeface="Gotham"/>
                  <a:ea typeface="Gotham"/>
                  <a:cs typeface="Gotham"/>
                  <a:sym typeface="Gotham"/>
                </a:rPr>
                <a:t>Includes temporal feature creation (rolling statistics), optional dimensionality reduction with PCA, and automated feature selection to enhance model performance.</a:t>
              </a:r>
            </a:p>
          </p:txBody>
        </p:sp>
      </p:grpSp>
      <p:sp>
        <p:nvSpPr>
          <p:cNvPr id="19" name="Freeform 19" descr="preencoded.png"/>
          <p:cNvSpPr/>
          <p:nvPr/>
        </p:nvSpPr>
        <p:spPr>
          <a:xfrm>
            <a:off x="835372" y="5695355"/>
            <a:ext cx="1193304" cy="2138957"/>
          </a:xfrm>
          <a:custGeom>
            <a:avLst/>
            <a:gdLst/>
            <a:ahLst/>
            <a:cxnLst/>
            <a:rect l="l" t="t" r="r" b="b"/>
            <a:pathLst>
              <a:path w="1193304" h="2138957">
                <a:moveTo>
                  <a:pt x="0" y="0"/>
                </a:moveTo>
                <a:lnTo>
                  <a:pt x="1193304" y="0"/>
                </a:lnTo>
                <a:lnTo>
                  <a:pt x="1193304" y="2138957"/>
                </a:lnTo>
                <a:lnTo>
                  <a:pt x="0" y="2138957"/>
                </a:lnTo>
                <a:lnTo>
                  <a:pt x="0" y="0"/>
                </a:lnTo>
                <a:close/>
              </a:path>
            </a:pathLst>
          </a:custGeom>
          <a:blipFill>
            <a:blip r:embed="rId4"/>
            <a:stretch>
              <a:fillRect t="-210" b="-210"/>
            </a:stretch>
          </a:blipFill>
        </p:spPr>
      </p:sp>
      <p:grpSp>
        <p:nvGrpSpPr>
          <p:cNvPr id="20" name="Group 20"/>
          <p:cNvGrpSpPr/>
          <p:nvPr/>
        </p:nvGrpSpPr>
        <p:grpSpPr>
          <a:xfrm>
            <a:off x="2386607" y="5695355"/>
            <a:ext cx="3759845" cy="816046"/>
            <a:chOff x="0" y="0"/>
            <a:chExt cx="5013127" cy="1088062"/>
          </a:xfrm>
        </p:grpSpPr>
        <p:sp>
          <p:nvSpPr>
            <p:cNvPr id="21" name="Freeform 21"/>
            <p:cNvSpPr/>
            <p:nvPr/>
          </p:nvSpPr>
          <p:spPr>
            <a:xfrm>
              <a:off x="0" y="0"/>
              <a:ext cx="5013127" cy="1088062"/>
            </a:xfrm>
            <a:custGeom>
              <a:avLst/>
              <a:gdLst/>
              <a:ahLst/>
              <a:cxnLst/>
              <a:rect l="l" t="t" r="r" b="b"/>
              <a:pathLst>
                <a:path w="5013127" h="1088062">
                  <a:moveTo>
                    <a:pt x="0" y="0"/>
                  </a:moveTo>
                  <a:lnTo>
                    <a:pt x="5013127" y="0"/>
                  </a:lnTo>
                  <a:lnTo>
                    <a:pt x="5013127" y="1088062"/>
                  </a:lnTo>
                  <a:lnTo>
                    <a:pt x="0" y="1088062"/>
                  </a:lnTo>
                  <a:close/>
                </a:path>
              </a:pathLst>
            </a:custGeom>
            <a:solidFill>
              <a:srgbClr val="000000">
                <a:alpha val="0"/>
              </a:srgbClr>
            </a:solidFill>
          </p:spPr>
        </p:sp>
        <p:sp>
          <p:nvSpPr>
            <p:cNvPr id="22" name="TextBox 22"/>
            <p:cNvSpPr txBox="1"/>
            <p:nvPr/>
          </p:nvSpPr>
          <p:spPr>
            <a:xfrm>
              <a:off x="0" y="-9525"/>
              <a:ext cx="5013127" cy="1097587"/>
            </a:xfrm>
            <a:prstGeom prst="rect">
              <a:avLst/>
            </a:prstGeom>
          </p:spPr>
          <p:txBody>
            <a:bodyPr lIns="0" tIns="0" rIns="0" bIns="0" rtlCol="0" anchor="t"/>
            <a:lstStyle/>
            <a:p>
              <a:pPr algn="l">
                <a:lnSpc>
                  <a:spcPts val="2875"/>
                </a:lnSpc>
              </a:pPr>
              <a:r>
                <a:rPr lang="en-US" sz="2312" b="1">
                  <a:solidFill>
                    <a:srgbClr val="0E4714"/>
                  </a:solidFill>
                  <a:latin typeface="Gotham Bold"/>
                  <a:ea typeface="Gotham Bold"/>
                  <a:cs typeface="Gotham Bold"/>
                  <a:sym typeface="Gotham Bold"/>
                </a:rPr>
                <a:t>Class Imbalance Handling</a:t>
              </a:r>
            </a:p>
          </p:txBody>
        </p:sp>
      </p:grpSp>
      <p:grpSp>
        <p:nvGrpSpPr>
          <p:cNvPr id="23" name="Group 23"/>
          <p:cNvGrpSpPr/>
          <p:nvPr/>
        </p:nvGrpSpPr>
        <p:grpSpPr>
          <a:xfrm>
            <a:off x="2230742" y="6578076"/>
            <a:ext cx="8208020" cy="1145679"/>
            <a:chOff x="0" y="0"/>
            <a:chExt cx="10944027" cy="1527572"/>
          </a:xfrm>
        </p:grpSpPr>
        <p:sp>
          <p:nvSpPr>
            <p:cNvPr id="24" name="Freeform 24"/>
            <p:cNvSpPr/>
            <p:nvPr/>
          </p:nvSpPr>
          <p:spPr>
            <a:xfrm>
              <a:off x="0" y="0"/>
              <a:ext cx="10944027" cy="1527572"/>
            </a:xfrm>
            <a:custGeom>
              <a:avLst/>
              <a:gdLst/>
              <a:ahLst/>
              <a:cxnLst/>
              <a:rect l="l" t="t" r="r" b="b"/>
              <a:pathLst>
                <a:path w="10944027" h="1527572">
                  <a:moveTo>
                    <a:pt x="0" y="0"/>
                  </a:moveTo>
                  <a:lnTo>
                    <a:pt x="10944027" y="0"/>
                  </a:lnTo>
                  <a:lnTo>
                    <a:pt x="10944027" y="1527572"/>
                  </a:lnTo>
                  <a:lnTo>
                    <a:pt x="0" y="1527572"/>
                  </a:lnTo>
                  <a:close/>
                </a:path>
              </a:pathLst>
            </a:custGeom>
            <a:solidFill>
              <a:srgbClr val="000000">
                <a:alpha val="0"/>
              </a:srgbClr>
            </a:solidFill>
          </p:spPr>
        </p:sp>
        <p:sp>
          <p:nvSpPr>
            <p:cNvPr id="25" name="TextBox 25"/>
            <p:cNvSpPr txBox="1"/>
            <p:nvPr/>
          </p:nvSpPr>
          <p:spPr>
            <a:xfrm>
              <a:off x="0" y="-85725"/>
              <a:ext cx="10944027" cy="1613297"/>
            </a:xfrm>
            <a:prstGeom prst="rect">
              <a:avLst/>
            </a:prstGeom>
          </p:spPr>
          <p:txBody>
            <a:bodyPr lIns="0" tIns="0" rIns="0" bIns="0" rtlCol="0" anchor="t"/>
            <a:lstStyle/>
            <a:p>
              <a:pPr algn="l">
                <a:lnSpc>
                  <a:spcPts val="3000"/>
                </a:lnSpc>
              </a:pPr>
              <a:r>
                <a:rPr lang="en-US" sz="1874" spc="-28">
                  <a:solidFill>
                    <a:srgbClr val="0E4714"/>
                  </a:solidFill>
                  <a:latin typeface="Gotham"/>
                  <a:ea typeface="Gotham"/>
                  <a:cs typeface="Gotham"/>
                  <a:sym typeface="Gotham"/>
                </a:rPr>
                <a:t>Employs techniques like SMOTE (Synthetic Minority Over-sampling Technique), Random Under-sampling, and ADASYN (Adaptive Synthetic Sampling).</a:t>
              </a:r>
            </a:p>
          </p:txBody>
        </p:sp>
      </p:grpSp>
      <p:sp>
        <p:nvSpPr>
          <p:cNvPr id="26" name="Freeform 26" descr="preencoded.png"/>
          <p:cNvSpPr/>
          <p:nvPr/>
        </p:nvSpPr>
        <p:spPr>
          <a:xfrm>
            <a:off x="835372" y="7834312"/>
            <a:ext cx="1193304" cy="1757065"/>
          </a:xfrm>
          <a:custGeom>
            <a:avLst/>
            <a:gdLst/>
            <a:ahLst/>
            <a:cxnLst/>
            <a:rect l="l" t="t" r="r" b="b"/>
            <a:pathLst>
              <a:path w="1193304" h="1757065">
                <a:moveTo>
                  <a:pt x="0" y="0"/>
                </a:moveTo>
                <a:lnTo>
                  <a:pt x="1193304" y="0"/>
                </a:lnTo>
                <a:lnTo>
                  <a:pt x="1193304" y="1757065"/>
                </a:lnTo>
                <a:lnTo>
                  <a:pt x="0" y="1757065"/>
                </a:lnTo>
                <a:lnTo>
                  <a:pt x="0" y="0"/>
                </a:lnTo>
                <a:close/>
              </a:path>
            </a:pathLst>
          </a:custGeom>
          <a:blipFill>
            <a:blip r:embed="rId5"/>
            <a:stretch>
              <a:fillRect l="-14" r="-14"/>
            </a:stretch>
          </a:blipFill>
        </p:spPr>
      </p:sp>
      <p:grpSp>
        <p:nvGrpSpPr>
          <p:cNvPr id="27" name="Group 27"/>
          <p:cNvGrpSpPr/>
          <p:nvPr/>
        </p:nvGrpSpPr>
        <p:grpSpPr>
          <a:xfrm>
            <a:off x="2386608" y="8072884"/>
            <a:ext cx="2983409" cy="454096"/>
            <a:chOff x="0" y="0"/>
            <a:chExt cx="3977878" cy="605462"/>
          </a:xfrm>
        </p:grpSpPr>
        <p:sp>
          <p:nvSpPr>
            <p:cNvPr id="28" name="Freeform 28"/>
            <p:cNvSpPr/>
            <p:nvPr/>
          </p:nvSpPr>
          <p:spPr>
            <a:xfrm>
              <a:off x="0" y="0"/>
              <a:ext cx="3977879" cy="605462"/>
            </a:xfrm>
            <a:custGeom>
              <a:avLst/>
              <a:gdLst/>
              <a:ahLst/>
              <a:cxnLst/>
              <a:rect l="l" t="t" r="r" b="b"/>
              <a:pathLst>
                <a:path w="3977879" h="605462">
                  <a:moveTo>
                    <a:pt x="0" y="0"/>
                  </a:moveTo>
                  <a:lnTo>
                    <a:pt x="3977879" y="0"/>
                  </a:lnTo>
                  <a:lnTo>
                    <a:pt x="3977879" y="605462"/>
                  </a:lnTo>
                  <a:lnTo>
                    <a:pt x="0" y="605462"/>
                  </a:lnTo>
                  <a:close/>
                </a:path>
              </a:pathLst>
            </a:custGeom>
            <a:solidFill>
              <a:srgbClr val="000000">
                <a:alpha val="0"/>
              </a:srgbClr>
            </a:solidFill>
          </p:spPr>
        </p:sp>
        <p:sp>
          <p:nvSpPr>
            <p:cNvPr id="29" name="TextBox 29"/>
            <p:cNvSpPr txBox="1"/>
            <p:nvPr/>
          </p:nvSpPr>
          <p:spPr>
            <a:xfrm>
              <a:off x="0" y="-9525"/>
              <a:ext cx="3977878" cy="614987"/>
            </a:xfrm>
            <a:prstGeom prst="rect">
              <a:avLst/>
            </a:prstGeom>
          </p:spPr>
          <p:txBody>
            <a:bodyPr lIns="0" tIns="0" rIns="0" bIns="0" rtlCol="0" anchor="t"/>
            <a:lstStyle/>
            <a:p>
              <a:pPr algn="l">
                <a:lnSpc>
                  <a:spcPts val="2875"/>
                </a:lnSpc>
              </a:pPr>
              <a:r>
                <a:rPr lang="en-US" sz="2312" b="1">
                  <a:solidFill>
                    <a:srgbClr val="0E4714"/>
                  </a:solidFill>
                  <a:latin typeface="Gotham Bold"/>
                  <a:ea typeface="Gotham Bold"/>
                  <a:cs typeface="Gotham Bold"/>
                  <a:sym typeface="Gotham Bold"/>
                </a:rPr>
                <a:t>Scaling</a:t>
              </a:r>
            </a:p>
          </p:txBody>
        </p:sp>
      </p:grpSp>
      <p:grpSp>
        <p:nvGrpSpPr>
          <p:cNvPr id="30" name="Group 30"/>
          <p:cNvGrpSpPr/>
          <p:nvPr/>
        </p:nvGrpSpPr>
        <p:grpSpPr>
          <a:xfrm>
            <a:off x="2386607" y="8589020"/>
            <a:ext cx="8208020" cy="1132761"/>
            <a:chOff x="0" y="0"/>
            <a:chExt cx="10944027" cy="1510348"/>
          </a:xfrm>
        </p:grpSpPr>
        <p:sp>
          <p:nvSpPr>
            <p:cNvPr id="31" name="Freeform 31"/>
            <p:cNvSpPr/>
            <p:nvPr/>
          </p:nvSpPr>
          <p:spPr>
            <a:xfrm>
              <a:off x="0" y="0"/>
              <a:ext cx="10944027" cy="1510347"/>
            </a:xfrm>
            <a:custGeom>
              <a:avLst/>
              <a:gdLst/>
              <a:ahLst/>
              <a:cxnLst/>
              <a:rect l="l" t="t" r="r" b="b"/>
              <a:pathLst>
                <a:path w="10944027" h="1510347">
                  <a:moveTo>
                    <a:pt x="0" y="0"/>
                  </a:moveTo>
                  <a:lnTo>
                    <a:pt x="10944027" y="0"/>
                  </a:lnTo>
                  <a:lnTo>
                    <a:pt x="10944027" y="1510347"/>
                  </a:lnTo>
                  <a:lnTo>
                    <a:pt x="0" y="1510347"/>
                  </a:lnTo>
                  <a:close/>
                </a:path>
              </a:pathLst>
            </a:custGeom>
            <a:solidFill>
              <a:srgbClr val="000000">
                <a:alpha val="0"/>
              </a:srgbClr>
            </a:solidFill>
          </p:spPr>
        </p:sp>
        <p:sp>
          <p:nvSpPr>
            <p:cNvPr id="32" name="TextBox 32"/>
            <p:cNvSpPr txBox="1"/>
            <p:nvPr/>
          </p:nvSpPr>
          <p:spPr>
            <a:xfrm>
              <a:off x="0" y="-85725"/>
              <a:ext cx="10944027" cy="1596073"/>
            </a:xfrm>
            <a:prstGeom prst="rect">
              <a:avLst/>
            </a:prstGeom>
          </p:spPr>
          <p:txBody>
            <a:bodyPr lIns="0" tIns="0" rIns="0" bIns="0" rtlCol="0" anchor="t"/>
            <a:lstStyle/>
            <a:p>
              <a:pPr algn="l">
                <a:lnSpc>
                  <a:spcPts val="3000"/>
                </a:lnSpc>
              </a:pPr>
              <a:r>
                <a:rPr lang="en-US" sz="1874" spc="-28">
                  <a:solidFill>
                    <a:srgbClr val="0E4714"/>
                  </a:solidFill>
                  <a:latin typeface="Gotham"/>
                  <a:ea typeface="Gotham"/>
                  <a:cs typeface="Gotham"/>
                  <a:sym typeface="Gotham"/>
                </a:rPr>
                <a:t>Applies Standard Scaling, Robust Scaling (better for data with outliers), or Min-Max Scaling to standardize data ranges for optimal model training.</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737996" y="583565"/>
            <a:ext cx="13385750" cy="890270"/>
            <a:chOff x="0" y="0"/>
            <a:chExt cx="17847667" cy="1187027"/>
          </a:xfrm>
        </p:grpSpPr>
        <p:sp>
          <p:nvSpPr>
            <p:cNvPr id="3" name="Freeform 3"/>
            <p:cNvSpPr/>
            <p:nvPr/>
          </p:nvSpPr>
          <p:spPr>
            <a:xfrm>
              <a:off x="0" y="0"/>
              <a:ext cx="17847667" cy="1187027"/>
            </a:xfrm>
            <a:custGeom>
              <a:avLst/>
              <a:gdLst/>
              <a:ahLst/>
              <a:cxnLst/>
              <a:rect l="l" t="t" r="r" b="b"/>
              <a:pathLst>
                <a:path w="17847667" h="1187027">
                  <a:moveTo>
                    <a:pt x="0" y="0"/>
                  </a:moveTo>
                  <a:lnTo>
                    <a:pt x="17847667" y="0"/>
                  </a:lnTo>
                  <a:lnTo>
                    <a:pt x="17847667" y="1187027"/>
                  </a:lnTo>
                  <a:lnTo>
                    <a:pt x="0" y="1187027"/>
                  </a:lnTo>
                  <a:close/>
                </a:path>
              </a:pathLst>
            </a:custGeom>
            <a:solidFill>
              <a:srgbClr val="000000">
                <a:alpha val="0"/>
              </a:srgbClr>
            </a:solidFill>
          </p:spPr>
        </p:sp>
        <p:sp>
          <p:nvSpPr>
            <p:cNvPr id="4" name="TextBox 4"/>
            <p:cNvSpPr txBox="1"/>
            <p:nvPr/>
          </p:nvSpPr>
          <p:spPr>
            <a:xfrm>
              <a:off x="0" y="-123825"/>
              <a:ext cx="17847667" cy="1310852"/>
            </a:xfrm>
            <a:prstGeom prst="rect">
              <a:avLst/>
            </a:prstGeom>
          </p:spPr>
          <p:txBody>
            <a:bodyPr lIns="0" tIns="0" rIns="0" bIns="0" rtlCol="0" anchor="t"/>
            <a:lstStyle/>
            <a:p>
              <a:pPr algn="l">
                <a:lnSpc>
                  <a:spcPts val="6249"/>
                </a:lnSpc>
              </a:pPr>
              <a:r>
                <a:rPr lang="en-US" sz="4999" i="1" spc="-95">
                  <a:solidFill>
                    <a:srgbClr val="0E4714"/>
                  </a:solidFill>
                  <a:latin typeface="Times New Roman Condensed Italics"/>
                  <a:ea typeface="Times New Roman Condensed Italics"/>
                  <a:cs typeface="Times New Roman Condensed Italics"/>
                  <a:sym typeface="Times New Roman Condensed Italics"/>
                </a:rPr>
                <a:t>Model Architecture &amp; Technical Details</a:t>
              </a:r>
            </a:p>
          </p:txBody>
        </p:sp>
      </p:grpSp>
      <p:grpSp>
        <p:nvGrpSpPr>
          <p:cNvPr id="5" name="Group 5"/>
          <p:cNvGrpSpPr/>
          <p:nvPr/>
        </p:nvGrpSpPr>
        <p:grpSpPr>
          <a:xfrm>
            <a:off x="470799" y="1831433"/>
            <a:ext cx="574625" cy="574625"/>
            <a:chOff x="0" y="0"/>
            <a:chExt cx="766167" cy="766167"/>
          </a:xfrm>
        </p:grpSpPr>
        <p:sp>
          <p:nvSpPr>
            <p:cNvPr id="6" name="Freeform 6"/>
            <p:cNvSpPr/>
            <p:nvPr/>
          </p:nvSpPr>
          <p:spPr>
            <a:xfrm>
              <a:off x="0" y="0"/>
              <a:ext cx="766191" cy="766191"/>
            </a:xfrm>
            <a:custGeom>
              <a:avLst/>
              <a:gdLst/>
              <a:ahLst/>
              <a:cxnLst/>
              <a:rect l="l" t="t" r="r" b="b"/>
              <a:pathLst>
                <a:path w="766191" h="766191">
                  <a:moveTo>
                    <a:pt x="0" y="51054"/>
                  </a:moveTo>
                  <a:cubicBezTo>
                    <a:pt x="0" y="22860"/>
                    <a:pt x="22860" y="0"/>
                    <a:pt x="51054" y="0"/>
                  </a:cubicBezTo>
                  <a:lnTo>
                    <a:pt x="715137" y="0"/>
                  </a:lnTo>
                  <a:cubicBezTo>
                    <a:pt x="743331" y="0"/>
                    <a:pt x="766191" y="22860"/>
                    <a:pt x="766191" y="51054"/>
                  </a:cubicBezTo>
                  <a:lnTo>
                    <a:pt x="766191" y="715137"/>
                  </a:lnTo>
                  <a:cubicBezTo>
                    <a:pt x="766191" y="743331"/>
                    <a:pt x="743331" y="766191"/>
                    <a:pt x="715137" y="766191"/>
                  </a:cubicBezTo>
                  <a:lnTo>
                    <a:pt x="51054" y="766191"/>
                  </a:lnTo>
                  <a:cubicBezTo>
                    <a:pt x="22860" y="766191"/>
                    <a:pt x="0" y="743331"/>
                    <a:pt x="0" y="715137"/>
                  </a:cubicBezTo>
                  <a:close/>
                </a:path>
              </a:pathLst>
            </a:custGeom>
            <a:solidFill>
              <a:srgbClr val="0E4714"/>
            </a:solidFill>
          </p:spPr>
        </p:sp>
      </p:grpSp>
      <p:sp>
        <p:nvSpPr>
          <p:cNvPr id="7" name="Freeform 7" descr="preencoded.png"/>
          <p:cNvSpPr/>
          <p:nvPr/>
        </p:nvSpPr>
        <p:spPr>
          <a:xfrm>
            <a:off x="566496" y="1879282"/>
            <a:ext cx="383084" cy="478780"/>
          </a:xfrm>
          <a:custGeom>
            <a:avLst/>
            <a:gdLst/>
            <a:ahLst/>
            <a:cxnLst/>
            <a:rect l="l" t="t" r="r" b="b"/>
            <a:pathLst>
              <a:path w="383084" h="478780">
                <a:moveTo>
                  <a:pt x="0" y="0"/>
                </a:moveTo>
                <a:lnTo>
                  <a:pt x="383084" y="0"/>
                </a:lnTo>
                <a:lnTo>
                  <a:pt x="383084" y="478780"/>
                </a:lnTo>
                <a:lnTo>
                  <a:pt x="0" y="478780"/>
                </a:lnTo>
                <a:lnTo>
                  <a:pt x="0" y="0"/>
                </a:lnTo>
                <a:close/>
              </a:path>
            </a:pathLst>
          </a:custGeom>
          <a:blipFill>
            <a:blip r:embed="rId2"/>
            <a:stretch>
              <a:fillRect t="-7" b="-7"/>
            </a:stretch>
          </a:blipFill>
        </p:spPr>
      </p:sp>
      <p:grpSp>
        <p:nvGrpSpPr>
          <p:cNvPr id="8" name="Group 8"/>
          <p:cNvGrpSpPr/>
          <p:nvPr/>
        </p:nvGrpSpPr>
        <p:grpSpPr>
          <a:xfrm>
            <a:off x="1300814" y="1831433"/>
            <a:ext cx="4499819" cy="878522"/>
            <a:chOff x="0" y="0"/>
            <a:chExt cx="5999758" cy="1171363"/>
          </a:xfrm>
        </p:grpSpPr>
        <p:sp>
          <p:nvSpPr>
            <p:cNvPr id="9" name="Freeform 9"/>
            <p:cNvSpPr/>
            <p:nvPr/>
          </p:nvSpPr>
          <p:spPr>
            <a:xfrm>
              <a:off x="0" y="0"/>
              <a:ext cx="5999758" cy="1171363"/>
            </a:xfrm>
            <a:custGeom>
              <a:avLst/>
              <a:gdLst/>
              <a:ahLst/>
              <a:cxnLst/>
              <a:rect l="l" t="t" r="r" b="b"/>
              <a:pathLst>
                <a:path w="5999758" h="1171363">
                  <a:moveTo>
                    <a:pt x="0" y="0"/>
                  </a:moveTo>
                  <a:lnTo>
                    <a:pt x="5999758" y="0"/>
                  </a:lnTo>
                  <a:lnTo>
                    <a:pt x="5999758" y="1171363"/>
                  </a:lnTo>
                  <a:lnTo>
                    <a:pt x="0" y="1171363"/>
                  </a:lnTo>
                  <a:close/>
                </a:path>
              </a:pathLst>
            </a:custGeom>
            <a:solidFill>
              <a:srgbClr val="000000">
                <a:alpha val="0"/>
              </a:srgbClr>
            </a:solidFill>
          </p:spPr>
        </p:sp>
        <p:sp>
          <p:nvSpPr>
            <p:cNvPr id="10" name="TextBox 10"/>
            <p:cNvSpPr txBox="1"/>
            <p:nvPr/>
          </p:nvSpPr>
          <p:spPr>
            <a:xfrm>
              <a:off x="0" y="-9525"/>
              <a:ext cx="5999758" cy="1180888"/>
            </a:xfrm>
            <a:prstGeom prst="rect">
              <a:avLst/>
            </a:prstGeom>
          </p:spPr>
          <p:txBody>
            <a:bodyPr lIns="0" tIns="0" rIns="0" bIns="0" rtlCol="0" anchor="t"/>
            <a:lstStyle/>
            <a:p>
              <a:pPr algn="l">
                <a:lnSpc>
                  <a:spcPts val="3124"/>
                </a:lnSpc>
              </a:pPr>
              <a:r>
                <a:rPr lang="en-US" sz="2499" b="1">
                  <a:solidFill>
                    <a:srgbClr val="0E4714"/>
                  </a:solidFill>
                  <a:latin typeface="Gotham Bold"/>
                  <a:ea typeface="Gotham Bold"/>
                  <a:cs typeface="Gotham Bold"/>
                  <a:sym typeface="Gotham Bold"/>
                </a:rPr>
                <a:t>Classification (Random Forest)</a:t>
              </a:r>
            </a:p>
          </p:txBody>
        </p:sp>
      </p:grpSp>
      <p:grpSp>
        <p:nvGrpSpPr>
          <p:cNvPr id="11" name="Group 11"/>
          <p:cNvGrpSpPr/>
          <p:nvPr/>
        </p:nvGrpSpPr>
        <p:grpSpPr>
          <a:xfrm>
            <a:off x="949580" y="2709955"/>
            <a:ext cx="5263656" cy="7991761"/>
            <a:chOff x="0" y="0"/>
            <a:chExt cx="7018208" cy="10655681"/>
          </a:xfrm>
        </p:grpSpPr>
        <p:sp>
          <p:nvSpPr>
            <p:cNvPr id="12" name="Freeform 12"/>
            <p:cNvSpPr/>
            <p:nvPr/>
          </p:nvSpPr>
          <p:spPr>
            <a:xfrm>
              <a:off x="0" y="0"/>
              <a:ext cx="7018208" cy="10655681"/>
            </a:xfrm>
            <a:custGeom>
              <a:avLst/>
              <a:gdLst/>
              <a:ahLst/>
              <a:cxnLst/>
              <a:rect l="l" t="t" r="r" b="b"/>
              <a:pathLst>
                <a:path w="7018208" h="10655681">
                  <a:moveTo>
                    <a:pt x="0" y="0"/>
                  </a:moveTo>
                  <a:lnTo>
                    <a:pt x="7018208" y="0"/>
                  </a:lnTo>
                  <a:lnTo>
                    <a:pt x="7018208" y="10655681"/>
                  </a:lnTo>
                  <a:lnTo>
                    <a:pt x="0" y="10655681"/>
                  </a:lnTo>
                  <a:close/>
                </a:path>
              </a:pathLst>
            </a:custGeom>
            <a:solidFill>
              <a:srgbClr val="000000">
                <a:alpha val="0"/>
              </a:srgbClr>
            </a:solidFill>
          </p:spPr>
        </p:sp>
        <p:sp>
          <p:nvSpPr>
            <p:cNvPr id="13" name="TextBox 13"/>
            <p:cNvSpPr txBox="1"/>
            <p:nvPr/>
          </p:nvSpPr>
          <p:spPr>
            <a:xfrm>
              <a:off x="0" y="-76200"/>
              <a:ext cx="7018208" cy="10731881"/>
            </a:xfrm>
            <a:prstGeom prst="rect">
              <a:avLst/>
            </a:prstGeom>
          </p:spPr>
          <p:txBody>
            <a:bodyPr lIns="0" tIns="0" rIns="0" bIns="0" rtlCol="0" anchor="t"/>
            <a:lstStyle/>
            <a:p>
              <a:pPr algn="l">
                <a:lnSpc>
                  <a:spcPts val="3186"/>
                </a:lnSpc>
              </a:pPr>
              <a:r>
                <a:rPr lang="en-US" sz="2000" spc="-30">
                  <a:solidFill>
                    <a:srgbClr val="0E4714"/>
                  </a:solidFill>
                  <a:latin typeface="Gotham"/>
                  <a:ea typeface="Gotham"/>
                  <a:cs typeface="Gotham"/>
                  <a:sym typeface="Gotham"/>
                </a:rPr>
                <a:t>Predicts the probability of node failure based on historical data and current resource utilization. For instance, a model trained on 1 year of data achieves 92% accuracy in predicting node failures 24 hours in advance</a:t>
              </a: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r>
                <a:rPr lang="en-US" sz="2000" b="1" spc="-30">
                  <a:solidFill>
                    <a:srgbClr val="0E4714"/>
                  </a:solidFill>
                  <a:latin typeface="Gotham Bold"/>
                  <a:ea typeface="Gotham Bold"/>
                  <a:cs typeface="Gotham Bold"/>
                  <a:sym typeface="Gotham Bold"/>
                </a:rPr>
                <a:t>Classification Metrics (Random Forest)</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Accuracy: Overall prediction accuracy</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Precision: Ability to correctly identify failures without false alarms</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Recall: Ability to detect all actual failures</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F1 Score: Harmonic mean of precision and recall</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AUC-ROC: Area under the Receiver Operating Characteristic curve</a:t>
              </a:r>
            </a:p>
            <a:p>
              <a:pPr algn="l">
                <a:lnSpc>
                  <a:spcPts val="3186"/>
                </a:lnSpc>
              </a:pPr>
              <a:endParaRPr lang="en-US" sz="2000" spc="-30">
                <a:solidFill>
                  <a:srgbClr val="0E4714"/>
                </a:solidFill>
                <a:latin typeface="Gotham"/>
                <a:ea typeface="Gotham"/>
                <a:cs typeface="Gotham"/>
                <a:sym typeface="Gotham"/>
              </a:endParaRPr>
            </a:p>
            <a:p>
              <a:pPr algn="l">
                <a:lnSpc>
                  <a:spcPts val="3187"/>
                </a:lnSpc>
              </a:pPr>
              <a:endParaRPr lang="en-US" sz="2000" spc="-30">
                <a:solidFill>
                  <a:srgbClr val="0E4714"/>
                </a:solidFill>
                <a:latin typeface="Gotham"/>
                <a:ea typeface="Gotham"/>
                <a:cs typeface="Gotham"/>
                <a:sym typeface="Gotham"/>
              </a:endParaRPr>
            </a:p>
          </p:txBody>
        </p:sp>
      </p:grpSp>
      <p:sp>
        <p:nvSpPr>
          <p:cNvPr id="14" name="Freeform 14"/>
          <p:cNvSpPr/>
          <p:nvPr/>
        </p:nvSpPr>
        <p:spPr>
          <a:xfrm>
            <a:off x="8510250" y="6005519"/>
            <a:ext cx="8254682" cy="3951929"/>
          </a:xfrm>
          <a:custGeom>
            <a:avLst/>
            <a:gdLst/>
            <a:ahLst/>
            <a:cxnLst/>
            <a:rect l="l" t="t" r="r" b="b"/>
            <a:pathLst>
              <a:path w="8254682" h="3951929">
                <a:moveTo>
                  <a:pt x="0" y="0"/>
                </a:moveTo>
                <a:lnTo>
                  <a:pt x="8254683" y="0"/>
                </a:lnTo>
                <a:lnTo>
                  <a:pt x="8254683" y="3951929"/>
                </a:lnTo>
                <a:lnTo>
                  <a:pt x="0" y="3951929"/>
                </a:lnTo>
                <a:lnTo>
                  <a:pt x="0" y="0"/>
                </a:lnTo>
                <a:close/>
              </a:path>
            </a:pathLst>
          </a:custGeom>
          <a:blipFill>
            <a:blip r:embed="rId3"/>
            <a:stretch>
              <a:fillRect/>
            </a:stretch>
          </a:blipFill>
        </p:spPr>
      </p:sp>
      <p:sp>
        <p:nvSpPr>
          <p:cNvPr id="15" name="Freeform 15"/>
          <p:cNvSpPr/>
          <p:nvPr/>
        </p:nvSpPr>
        <p:spPr>
          <a:xfrm>
            <a:off x="9360373" y="1473835"/>
            <a:ext cx="6554437" cy="3889561"/>
          </a:xfrm>
          <a:custGeom>
            <a:avLst/>
            <a:gdLst/>
            <a:ahLst/>
            <a:cxnLst/>
            <a:rect l="l" t="t" r="r" b="b"/>
            <a:pathLst>
              <a:path w="6554437" h="3889561">
                <a:moveTo>
                  <a:pt x="0" y="0"/>
                </a:moveTo>
                <a:lnTo>
                  <a:pt x="6554437" y="0"/>
                </a:lnTo>
                <a:lnTo>
                  <a:pt x="6554437" y="3889561"/>
                </a:lnTo>
                <a:lnTo>
                  <a:pt x="0" y="3889561"/>
                </a:lnTo>
                <a:lnTo>
                  <a:pt x="0" y="0"/>
                </a:lnTo>
                <a:close/>
              </a:path>
            </a:pathLst>
          </a:custGeom>
          <a:blipFill>
            <a:blip r:embed="rId4"/>
            <a:stretch>
              <a:fillRect l="-2592" t="-88919" r="-1728" b="-3732"/>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sp>
        <p:nvSpPr>
          <p:cNvPr id="2" name="Freeform 2"/>
          <p:cNvSpPr/>
          <p:nvPr/>
        </p:nvSpPr>
        <p:spPr>
          <a:xfrm>
            <a:off x="8219722" y="617022"/>
            <a:ext cx="6536600" cy="3915411"/>
          </a:xfrm>
          <a:custGeom>
            <a:avLst/>
            <a:gdLst/>
            <a:ahLst/>
            <a:cxnLst/>
            <a:rect l="l" t="t" r="r" b="b"/>
            <a:pathLst>
              <a:path w="6536600" h="3915411">
                <a:moveTo>
                  <a:pt x="0" y="0"/>
                </a:moveTo>
                <a:lnTo>
                  <a:pt x="6536600" y="0"/>
                </a:lnTo>
                <a:lnTo>
                  <a:pt x="6536600" y="3915411"/>
                </a:lnTo>
                <a:lnTo>
                  <a:pt x="0" y="3915411"/>
                </a:lnTo>
                <a:lnTo>
                  <a:pt x="0" y="0"/>
                </a:lnTo>
                <a:close/>
              </a:path>
            </a:pathLst>
          </a:custGeom>
          <a:blipFill>
            <a:blip r:embed="rId2"/>
            <a:stretch>
              <a:fillRect t="-709" b="-709"/>
            </a:stretch>
          </a:blipFill>
        </p:spPr>
      </p:sp>
      <p:grpSp>
        <p:nvGrpSpPr>
          <p:cNvPr id="3" name="Group 3"/>
          <p:cNvGrpSpPr/>
          <p:nvPr/>
        </p:nvGrpSpPr>
        <p:grpSpPr>
          <a:xfrm>
            <a:off x="177676" y="569173"/>
            <a:ext cx="574625" cy="574625"/>
            <a:chOff x="0" y="0"/>
            <a:chExt cx="766167" cy="766167"/>
          </a:xfrm>
        </p:grpSpPr>
        <p:sp>
          <p:nvSpPr>
            <p:cNvPr id="4" name="Freeform 4"/>
            <p:cNvSpPr/>
            <p:nvPr/>
          </p:nvSpPr>
          <p:spPr>
            <a:xfrm>
              <a:off x="0" y="0"/>
              <a:ext cx="766191" cy="766191"/>
            </a:xfrm>
            <a:custGeom>
              <a:avLst/>
              <a:gdLst/>
              <a:ahLst/>
              <a:cxnLst/>
              <a:rect l="l" t="t" r="r" b="b"/>
              <a:pathLst>
                <a:path w="766191" h="766191">
                  <a:moveTo>
                    <a:pt x="0" y="51054"/>
                  </a:moveTo>
                  <a:cubicBezTo>
                    <a:pt x="0" y="22860"/>
                    <a:pt x="22860" y="0"/>
                    <a:pt x="51054" y="0"/>
                  </a:cubicBezTo>
                  <a:lnTo>
                    <a:pt x="715137" y="0"/>
                  </a:lnTo>
                  <a:cubicBezTo>
                    <a:pt x="743331" y="0"/>
                    <a:pt x="766191" y="22860"/>
                    <a:pt x="766191" y="51054"/>
                  </a:cubicBezTo>
                  <a:lnTo>
                    <a:pt x="766191" y="715137"/>
                  </a:lnTo>
                  <a:cubicBezTo>
                    <a:pt x="766191" y="743331"/>
                    <a:pt x="743331" y="766191"/>
                    <a:pt x="715137" y="766191"/>
                  </a:cubicBezTo>
                  <a:lnTo>
                    <a:pt x="51054" y="766191"/>
                  </a:lnTo>
                  <a:cubicBezTo>
                    <a:pt x="22860" y="766191"/>
                    <a:pt x="0" y="743331"/>
                    <a:pt x="0" y="715137"/>
                  </a:cubicBezTo>
                  <a:close/>
                </a:path>
              </a:pathLst>
            </a:custGeom>
            <a:solidFill>
              <a:srgbClr val="0E4714"/>
            </a:solidFill>
          </p:spPr>
        </p:sp>
      </p:grpSp>
      <p:sp>
        <p:nvSpPr>
          <p:cNvPr id="5" name="Freeform 5" descr="preencoded.png"/>
          <p:cNvSpPr/>
          <p:nvPr/>
        </p:nvSpPr>
        <p:spPr>
          <a:xfrm>
            <a:off x="273372" y="617022"/>
            <a:ext cx="383084" cy="478780"/>
          </a:xfrm>
          <a:custGeom>
            <a:avLst/>
            <a:gdLst/>
            <a:ahLst/>
            <a:cxnLst/>
            <a:rect l="l" t="t" r="r" b="b"/>
            <a:pathLst>
              <a:path w="383084" h="478780">
                <a:moveTo>
                  <a:pt x="0" y="0"/>
                </a:moveTo>
                <a:lnTo>
                  <a:pt x="383084" y="0"/>
                </a:lnTo>
                <a:lnTo>
                  <a:pt x="383084" y="478780"/>
                </a:lnTo>
                <a:lnTo>
                  <a:pt x="0" y="478780"/>
                </a:lnTo>
                <a:lnTo>
                  <a:pt x="0" y="0"/>
                </a:lnTo>
                <a:close/>
              </a:path>
            </a:pathLst>
          </a:custGeom>
          <a:blipFill>
            <a:blip r:embed="rId3"/>
            <a:stretch>
              <a:fillRect t="-7" b="-7"/>
            </a:stretch>
          </a:blipFill>
        </p:spPr>
      </p:sp>
      <p:grpSp>
        <p:nvGrpSpPr>
          <p:cNvPr id="6" name="Group 6"/>
          <p:cNvGrpSpPr/>
          <p:nvPr/>
        </p:nvGrpSpPr>
        <p:grpSpPr>
          <a:xfrm>
            <a:off x="1007690" y="569173"/>
            <a:ext cx="4499819" cy="878522"/>
            <a:chOff x="0" y="0"/>
            <a:chExt cx="5999758" cy="1171363"/>
          </a:xfrm>
        </p:grpSpPr>
        <p:sp>
          <p:nvSpPr>
            <p:cNvPr id="7" name="Freeform 7"/>
            <p:cNvSpPr/>
            <p:nvPr/>
          </p:nvSpPr>
          <p:spPr>
            <a:xfrm>
              <a:off x="0" y="0"/>
              <a:ext cx="5999758" cy="1171363"/>
            </a:xfrm>
            <a:custGeom>
              <a:avLst/>
              <a:gdLst/>
              <a:ahLst/>
              <a:cxnLst/>
              <a:rect l="l" t="t" r="r" b="b"/>
              <a:pathLst>
                <a:path w="5999758" h="1171363">
                  <a:moveTo>
                    <a:pt x="0" y="0"/>
                  </a:moveTo>
                  <a:lnTo>
                    <a:pt x="5999758" y="0"/>
                  </a:lnTo>
                  <a:lnTo>
                    <a:pt x="5999758" y="1171363"/>
                  </a:lnTo>
                  <a:lnTo>
                    <a:pt x="0" y="1171363"/>
                  </a:lnTo>
                  <a:close/>
                </a:path>
              </a:pathLst>
            </a:custGeom>
            <a:solidFill>
              <a:srgbClr val="000000">
                <a:alpha val="0"/>
              </a:srgbClr>
            </a:solidFill>
          </p:spPr>
        </p:sp>
        <p:sp>
          <p:nvSpPr>
            <p:cNvPr id="8" name="TextBox 8"/>
            <p:cNvSpPr txBox="1"/>
            <p:nvPr/>
          </p:nvSpPr>
          <p:spPr>
            <a:xfrm>
              <a:off x="0" y="-9525"/>
              <a:ext cx="5999758" cy="1180888"/>
            </a:xfrm>
            <a:prstGeom prst="rect">
              <a:avLst/>
            </a:prstGeom>
          </p:spPr>
          <p:txBody>
            <a:bodyPr lIns="0" tIns="0" rIns="0" bIns="0" rtlCol="0" anchor="t"/>
            <a:lstStyle/>
            <a:p>
              <a:pPr algn="l">
                <a:lnSpc>
                  <a:spcPts val="3124"/>
                </a:lnSpc>
              </a:pPr>
              <a:r>
                <a:rPr lang="en-US" sz="2499" b="1">
                  <a:solidFill>
                    <a:srgbClr val="0E4714"/>
                  </a:solidFill>
                  <a:latin typeface="Gotham Bold"/>
                  <a:ea typeface="Gotham Bold"/>
                  <a:cs typeface="Gotham Bold"/>
                  <a:sym typeface="Gotham Bold"/>
                </a:rPr>
                <a:t>Anomaly Detection (Isolation Forest)</a:t>
              </a:r>
            </a:p>
          </p:txBody>
        </p:sp>
      </p:grpSp>
      <p:grpSp>
        <p:nvGrpSpPr>
          <p:cNvPr id="9" name="Group 9"/>
          <p:cNvGrpSpPr/>
          <p:nvPr/>
        </p:nvGrpSpPr>
        <p:grpSpPr>
          <a:xfrm>
            <a:off x="1007690" y="1520335"/>
            <a:ext cx="4499819" cy="7591711"/>
            <a:chOff x="0" y="0"/>
            <a:chExt cx="5999758" cy="10122281"/>
          </a:xfrm>
        </p:grpSpPr>
        <p:sp>
          <p:nvSpPr>
            <p:cNvPr id="10" name="Freeform 10"/>
            <p:cNvSpPr/>
            <p:nvPr/>
          </p:nvSpPr>
          <p:spPr>
            <a:xfrm>
              <a:off x="0" y="0"/>
              <a:ext cx="5999758" cy="10122281"/>
            </a:xfrm>
            <a:custGeom>
              <a:avLst/>
              <a:gdLst/>
              <a:ahLst/>
              <a:cxnLst/>
              <a:rect l="l" t="t" r="r" b="b"/>
              <a:pathLst>
                <a:path w="5999758" h="10122281">
                  <a:moveTo>
                    <a:pt x="0" y="0"/>
                  </a:moveTo>
                  <a:lnTo>
                    <a:pt x="5999758" y="0"/>
                  </a:lnTo>
                  <a:lnTo>
                    <a:pt x="5999758" y="10122281"/>
                  </a:lnTo>
                  <a:lnTo>
                    <a:pt x="0" y="10122281"/>
                  </a:lnTo>
                  <a:close/>
                </a:path>
              </a:pathLst>
            </a:custGeom>
            <a:solidFill>
              <a:srgbClr val="000000">
                <a:alpha val="0"/>
              </a:srgbClr>
            </a:solidFill>
          </p:spPr>
        </p:sp>
        <p:sp>
          <p:nvSpPr>
            <p:cNvPr id="11" name="TextBox 11"/>
            <p:cNvSpPr txBox="1"/>
            <p:nvPr/>
          </p:nvSpPr>
          <p:spPr>
            <a:xfrm>
              <a:off x="0" y="-76200"/>
              <a:ext cx="5999758" cy="10198481"/>
            </a:xfrm>
            <a:prstGeom prst="rect">
              <a:avLst/>
            </a:prstGeom>
          </p:spPr>
          <p:txBody>
            <a:bodyPr lIns="0" tIns="0" rIns="0" bIns="0" rtlCol="0" anchor="t"/>
            <a:lstStyle/>
            <a:p>
              <a:pPr algn="l">
                <a:lnSpc>
                  <a:spcPts val="3186"/>
                </a:lnSpc>
              </a:pPr>
              <a:r>
                <a:rPr lang="en-US" sz="2000" spc="-30">
                  <a:solidFill>
                    <a:srgbClr val="0E4714"/>
                  </a:solidFill>
                  <a:latin typeface="Gotham"/>
                  <a:ea typeface="Gotham"/>
                  <a:cs typeface="Gotham"/>
                  <a:sym typeface="Gotham"/>
                </a:rPr>
                <a:t>Identifies unusual behavior in cluster metrics that may indicate an impending issue. It can detect a sudden spike in disk I/O latency, flagging a potential storage bottleneck.</a:t>
              </a: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r>
                <a:rPr lang="en-US" sz="2000" b="1" spc="-30">
                  <a:solidFill>
                    <a:srgbClr val="0E4714"/>
                  </a:solidFill>
                  <a:latin typeface="Gotham Bold"/>
                  <a:ea typeface="Gotham Bold"/>
                  <a:cs typeface="Gotham Bold"/>
                  <a:sym typeface="Gotham Bold"/>
                </a:rPr>
                <a:t>Anomaly Detection Metrics (Isolation Forest)</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Anomaly Score Distribution</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Precision and Recall at various thresholds</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F1 Score optimization for threshold selection</a:t>
              </a:r>
            </a:p>
            <a:p>
              <a:pPr algn="l">
                <a:lnSpc>
                  <a:spcPts val="3187"/>
                </a:lnSpc>
              </a:pPr>
              <a:endParaRPr lang="en-US" sz="2000" spc="-30">
                <a:solidFill>
                  <a:srgbClr val="0E4714"/>
                </a:solidFill>
                <a:latin typeface="Gotham"/>
                <a:ea typeface="Gotham"/>
                <a:cs typeface="Gotham"/>
                <a:sym typeface="Gotham"/>
              </a:endParaRPr>
            </a:p>
          </p:txBody>
        </p:sp>
      </p:grpSp>
      <p:sp>
        <p:nvSpPr>
          <p:cNvPr id="12" name="Freeform 12"/>
          <p:cNvSpPr/>
          <p:nvPr/>
        </p:nvSpPr>
        <p:spPr>
          <a:xfrm>
            <a:off x="7266559" y="5316190"/>
            <a:ext cx="9248814" cy="4266015"/>
          </a:xfrm>
          <a:custGeom>
            <a:avLst/>
            <a:gdLst/>
            <a:ahLst/>
            <a:cxnLst/>
            <a:rect l="l" t="t" r="r" b="b"/>
            <a:pathLst>
              <a:path w="9248814" h="4266015">
                <a:moveTo>
                  <a:pt x="0" y="0"/>
                </a:moveTo>
                <a:lnTo>
                  <a:pt x="9248813" y="0"/>
                </a:lnTo>
                <a:lnTo>
                  <a:pt x="9248813" y="4266015"/>
                </a:lnTo>
                <a:lnTo>
                  <a:pt x="0" y="4266015"/>
                </a:lnTo>
                <a:lnTo>
                  <a:pt x="0" y="0"/>
                </a:lnTo>
                <a:close/>
              </a:path>
            </a:pathLst>
          </a:custGeom>
          <a:blipFill>
            <a:blip r:embed="rId4"/>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716970" y="360706"/>
            <a:ext cx="574625" cy="574625"/>
            <a:chOff x="0" y="0"/>
            <a:chExt cx="766167" cy="766167"/>
          </a:xfrm>
        </p:grpSpPr>
        <p:sp>
          <p:nvSpPr>
            <p:cNvPr id="3" name="Freeform 3"/>
            <p:cNvSpPr/>
            <p:nvPr/>
          </p:nvSpPr>
          <p:spPr>
            <a:xfrm>
              <a:off x="0" y="0"/>
              <a:ext cx="766191" cy="766191"/>
            </a:xfrm>
            <a:custGeom>
              <a:avLst/>
              <a:gdLst/>
              <a:ahLst/>
              <a:cxnLst/>
              <a:rect l="l" t="t" r="r" b="b"/>
              <a:pathLst>
                <a:path w="766191" h="766191">
                  <a:moveTo>
                    <a:pt x="0" y="51054"/>
                  </a:moveTo>
                  <a:cubicBezTo>
                    <a:pt x="0" y="22860"/>
                    <a:pt x="22860" y="0"/>
                    <a:pt x="51054" y="0"/>
                  </a:cubicBezTo>
                  <a:lnTo>
                    <a:pt x="715137" y="0"/>
                  </a:lnTo>
                  <a:cubicBezTo>
                    <a:pt x="743331" y="0"/>
                    <a:pt x="766191" y="22860"/>
                    <a:pt x="766191" y="51054"/>
                  </a:cubicBezTo>
                  <a:lnTo>
                    <a:pt x="766191" y="715137"/>
                  </a:lnTo>
                  <a:cubicBezTo>
                    <a:pt x="766191" y="743331"/>
                    <a:pt x="743331" y="766191"/>
                    <a:pt x="715137" y="766191"/>
                  </a:cubicBezTo>
                  <a:lnTo>
                    <a:pt x="51054" y="766191"/>
                  </a:lnTo>
                  <a:cubicBezTo>
                    <a:pt x="22860" y="766191"/>
                    <a:pt x="0" y="743331"/>
                    <a:pt x="0" y="715137"/>
                  </a:cubicBezTo>
                  <a:close/>
                </a:path>
              </a:pathLst>
            </a:custGeom>
            <a:solidFill>
              <a:srgbClr val="0E4714"/>
            </a:solidFill>
          </p:spPr>
        </p:sp>
      </p:grpSp>
      <p:sp>
        <p:nvSpPr>
          <p:cNvPr id="4" name="Freeform 4" descr="preencoded.png"/>
          <p:cNvSpPr/>
          <p:nvPr/>
        </p:nvSpPr>
        <p:spPr>
          <a:xfrm>
            <a:off x="812667" y="408555"/>
            <a:ext cx="383084" cy="478780"/>
          </a:xfrm>
          <a:custGeom>
            <a:avLst/>
            <a:gdLst/>
            <a:ahLst/>
            <a:cxnLst/>
            <a:rect l="l" t="t" r="r" b="b"/>
            <a:pathLst>
              <a:path w="383084" h="478780">
                <a:moveTo>
                  <a:pt x="0" y="0"/>
                </a:moveTo>
                <a:lnTo>
                  <a:pt x="383084" y="0"/>
                </a:lnTo>
                <a:lnTo>
                  <a:pt x="383084" y="478780"/>
                </a:lnTo>
                <a:lnTo>
                  <a:pt x="0" y="478780"/>
                </a:lnTo>
                <a:lnTo>
                  <a:pt x="0" y="0"/>
                </a:lnTo>
                <a:close/>
              </a:path>
            </a:pathLst>
          </a:custGeom>
          <a:blipFill>
            <a:blip r:embed="rId2"/>
            <a:stretch>
              <a:fillRect t="-7" b="-7"/>
            </a:stretch>
          </a:blipFill>
        </p:spPr>
      </p:sp>
      <p:grpSp>
        <p:nvGrpSpPr>
          <p:cNvPr id="5" name="Group 5"/>
          <p:cNvGrpSpPr/>
          <p:nvPr/>
        </p:nvGrpSpPr>
        <p:grpSpPr>
          <a:xfrm>
            <a:off x="1546985" y="360706"/>
            <a:ext cx="4234606" cy="878522"/>
            <a:chOff x="0" y="0"/>
            <a:chExt cx="5646142" cy="1171363"/>
          </a:xfrm>
        </p:grpSpPr>
        <p:sp>
          <p:nvSpPr>
            <p:cNvPr id="6" name="Freeform 6"/>
            <p:cNvSpPr/>
            <p:nvPr/>
          </p:nvSpPr>
          <p:spPr>
            <a:xfrm>
              <a:off x="0" y="0"/>
              <a:ext cx="5646142" cy="1171363"/>
            </a:xfrm>
            <a:custGeom>
              <a:avLst/>
              <a:gdLst/>
              <a:ahLst/>
              <a:cxnLst/>
              <a:rect l="l" t="t" r="r" b="b"/>
              <a:pathLst>
                <a:path w="5646142" h="1171363">
                  <a:moveTo>
                    <a:pt x="0" y="0"/>
                  </a:moveTo>
                  <a:lnTo>
                    <a:pt x="5646142" y="0"/>
                  </a:lnTo>
                  <a:lnTo>
                    <a:pt x="5646142" y="1171363"/>
                  </a:lnTo>
                  <a:lnTo>
                    <a:pt x="0" y="1171363"/>
                  </a:lnTo>
                  <a:close/>
                </a:path>
              </a:pathLst>
            </a:custGeom>
            <a:solidFill>
              <a:srgbClr val="000000">
                <a:alpha val="0"/>
              </a:srgbClr>
            </a:solidFill>
          </p:spPr>
        </p:sp>
        <p:sp>
          <p:nvSpPr>
            <p:cNvPr id="7" name="TextBox 7"/>
            <p:cNvSpPr txBox="1"/>
            <p:nvPr/>
          </p:nvSpPr>
          <p:spPr>
            <a:xfrm>
              <a:off x="0" y="-9525"/>
              <a:ext cx="5646142" cy="1180888"/>
            </a:xfrm>
            <a:prstGeom prst="rect">
              <a:avLst/>
            </a:prstGeom>
          </p:spPr>
          <p:txBody>
            <a:bodyPr lIns="0" tIns="0" rIns="0" bIns="0" rtlCol="0" anchor="t"/>
            <a:lstStyle/>
            <a:p>
              <a:pPr algn="l">
                <a:lnSpc>
                  <a:spcPts val="3124"/>
                </a:lnSpc>
              </a:pPr>
              <a:r>
                <a:rPr lang="en-US" sz="2499" b="1">
                  <a:solidFill>
                    <a:srgbClr val="0E4714"/>
                  </a:solidFill>
                  <a:latin typeface="Gotham Bold"/>
                  <a:ea typeface="Gotham Bold"/>
                  <a:cs typeface="Gotham Bold"/>
                  <a:sym typeface="Gotham Bold"/>
                </a:rPr>
                <a:t>Trend Forecasting (ARIMA)</a:t>
              </a:r>
            </a:p>
          </p:txBody>
        </p:sp>
      </p:grpSp>
      <p:grpSp>
        <p:nvGrpSpPr>
          <p:cNvPr id="8" name="Group 8"/>
          <p:cNvGrpSpPr/>
          <p:nvPr/>
        </p:nvGrpSpPr>
        <p:grpSpPr>
          <a:xfrm>
            <a:off x="716970" y="1495139"/>
            <a:ext cx="4499819" cy="8391811"/>
            <a:chOff x="0" y="0"/>
            <a:chExt cx="5999758" cy="11189081"/>
          </a:xfrm>
        </p:grpSpPr>
        <p:sp>
          <p:nvSpPr>
            <p:cNvPr id="9" name="Freeform 9"/>
            <p:cNvSpPr/>
            <p:nvPr/>
          </p:nvSpPr>
          <p:spPr>
            <a:xfrm>
              <a:off x="0" y="0"/>
              <a:ext cx="5999758" cy="11189081"/>
            </a:xfrm>
            <a:custGeom>
              <a:avLst/>
              <a:gdLst/>
              <a:ahLst/>
              <a:cxnLst/>
              <a:rect l="l" t="t" r="r" b="b"/>
              <a:pathLst>
                <a:path w="5999758" h="11189081">
                  <a:moveTo>
                    <a:pt x="0" y="0"/>
                  </a:moveTo>
                  <a:lnTo>
                    <a:pt x="5999758" y="0"/>
                  </a:lnTo>
                  <a:lnTo>
                    <a:pt x="5999758" y="11189081"/>
                  </a:lnTo>
                  <a:lnTo>
                    <a:pt x="0" y="11189081"/>
                  </a:lnTo>
                  <a:close/>
                </a:path>
              </a:pathLst>
            </a:custGeom>
            <a:solidFill>
              <a:srgbClr val="000000">
                <a:alpha val="0"/>
              </a:srgbClr>
            </a:solidFill>
          </p:spPr>
        </p:sp>
        <p:sp>
          <p:nvSpPr>
            <p:cNvPr id="10" name="TextBox 10"/>
            <p:cNvSpPr txBox="1"/>
            <p:nvPr/>
          </p:nvSpPr>
          <p:spPr>
            <a:xfrm>
              <a:off x="0" y="-76200"/>
              <a:ext cx="5999758" cy="11265281"/>
            </a:xfrm>
            <a:prstGeom prst="rect">
              <a:avLst/>
            </a:prstGeom>
          </p:spPr>
          <p:txBody>
            <a:bodyPr lIns="0" tIns="0" rIns="0" bIns="0" rtlCol="0" anchor="t"/>
            <a:lstStyle/>
            <a:p>
              <a:pPr algn="l">
                <a:lnSpc>
                  <a:spcPts val="3186"/>
                </a:lnSpc>
              </a:pPr>
              <a:r>
                <a:rPr lang="en-US" sz="2000" spc="-30">
                  <a:solidFill>
                    <a:srgbClr val="0E4714"/>
                  </a:solidFill>
                  <a:latin typeface="Gotham"/>
                  <a:ea typeface="Gotham"/>
                  <a:cs typeface="Gotham"/>
                  <a:sym typeface="Gotham"/>
                </a:rPr>
                <a:t>Predicts future resource utilization based on historical trends, enabling proactive capacity planning. This allows forecasting CPU usage to exceed 80% in 2 weeks, triggering an alert to scale up resources.</a:t>
              </a: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endParaRPr lang="en-US" sz="2000" spc="-30">
                <a:solidFill>
                  <a:srgbClr val="0E4714"/>
                </a:solidFill>
                <a:latin typeface="Gotham"/>
                <a:ea typeface="Gotham"/>
                <a:cs typeface="Gotham"/>
                <a:sym typeface="Gotham"/>
              </a:endParaRPr>
            </a:p>
            <a:p>
              <a:pPr algn="l">
                <a:lnSpc>
                  <a:spcPts val="3186"/>
                </a:lnSpc>
              </a:pPr>
              <a:r>
                <a:rPr lang="en-US" sz="2000" b="1" spc="-30">
                  <a:solidFill>
                    <a:srgbClr val="0E4714"/>
                  </a:solidFill>
                  <a:latin typeface="Gotham Bold"/>
                  <a:ea typeface="Gotham Bold"/>
                  <a:cs typeface="Gotham Bold"/>
                  <a:sym typeface="Gotham Bold"/>
                </a:rPr>
                <a:t>Time Series Metrics (ARIMA)</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RMSE (Root Mean Square Error)</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MAE (Mean Absolute Error)</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MAPE (Mean Absolute Percentage Error)</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R² (Coefficient of Determination)</a:t>
              </a:r>
            </a:p>
            <a:p>
              <a:pPr marL="431801" lvl="1" indent="-215900" algn="l">
                <a:lnSpc>
                  <a:spcPts val="3186"/>
                </a:lnSpc>
                <a:buFont typeface="Arial"/>
                <a:buChar char="•"/>
              </a:pPr>
              <a:r>
                <a:rPr lang="en-US" sz="2000" spc="-30">
                  <a:solidFill>
                    <a:srgbClr val="0E4714"/>
                  </a:solidFill>
                  <a:latin typeface="Gotham"/>
                  <a:ea typeface="Gotham"/>
                  <a:cs typeface="Gotham"/>
                  <a:sym typeface="Gotham"/>
                </a:rPr>
                <a:t>Direction Accuracy</a:t>
              </a:r>
            </a:p>
            <a:p>
              <a:pPr algn="l">
                <a:lnSpc>
                  <a:spcPts val="3187"/>
                </a:lnSpc>
              </a:pPr>
              <a:endParaRPr lang="en-US" sz="2000" spc="-30">
                <a:solidFill>
                  <a:srgbClr val="0E4714"/>
                </a:solidFill>
                <a:latin typeface="Gotham"/>
                <a:ea typeface="Gotham"/>
                <a:cs typeface="Gotham"/>
                <a:sym typeface="Gotham"/>
              </a:endParaRPr>
            </a:p>
          </p:txBody>
        </p:sp>
      </p:grpSp>
      <p:sp>
        <p:nvSpPr>
          <p:cNvPr id="11" name="Freeform 11"/>
          <p:cNvSpPr/>
          <p:nvPr/>
        </p:nvSpPr>
        <p:spPr>
          <a:xfrm>
            <a:off x="7617353" y="647945"/>
            <a:ext cx="8982969" cy="4985548"/>
          </a:xfrm>
          <a:custGeom>
            <a:avLst/>
            <a:gdLst/>
            <a:ahLst/>
            <a:cxnLst/>
            <a:rect l="l" t="t" r="r" b="b"/>
            <a:pathLst>
              <a:path w="8982969" h="4985548">
                <a:moveTo>
                  <a:pt x="0" y="0"/>
                </a:moveTo>
                <a:lnTo>
                  <a:pt x="8982970" y="0"/>
                </a:lnTo>
                <a:lnTo>
                  <a:pt x="8982970" y="4985548"/>
                </a:lnTo>
                <a:lnTo>
                  <a:pt x="0" y="4985548"/>
                </a:lnTo>
                <a:lnTo>
                  <a:pt x="0" y="0"/>
                </a:lnTo>
                <a:close/>
              </a:path>
            </a:pathLst>
          </a:custGeom>
          <a:blipFill>
            <a:blip r:embed="rId3"/>
            <a:stretch>
              <a:fillRect/>
            </a:stretch>
          </a:blipFill>
        </p:spPr>
      </p:sp>
      <p:sp>
        <p:nvSpPr>
          <p:cNvPr id="12" name="Freeform 12"/>
          <p:cNvSpPr/>
          <p:nvPr/>
        </p:nvSpPr>
        <p:spPr>
          <a:xfrm>
            <a:off x="6187612" y="6517745"/>
            <a:ext cx="11301259" cy="2740555"/>
          </a:xfrm>
          <a:custGeom>
            <a:avLst/>
            <a:gdLst/>
            <a:ahLst/>
            <a:cxnLst/>
            <a:rect l="l" t="t" r="r" b="b"/>
            <a:pathLst>
              <a:path w="11301259" h="2740555">
                <a:moveTo>
                  <a:pt x="0" y="0"/>
                </a:moveTo>
                <a:lnTo>
                  <a:pt x="11301259" y="0"/>
                </a:lnTo>
                <a:lnTo>
                  <a:pt x="11301259" y="2740555"/>
                </a:lnTo>
                <a:lnTo>
                  <a:pt x="0" y="2740555"/>
                </a:lnTo>
                <a:lnTo>
                  <a:pt x="0" y="0"/>
                </a:lnTo>
                <a:close/>
              </a:path>
            </a:pathLst>
          </a:custGeom>
          <a:blipFill>
            <a:blip r:embed="rId4"/>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975122" y="990600"/>
            <a:ext cx="6965751" cy="963684"/>
            <a:chOff x="0" y="0"/>
            <a:chExt cx="9287668" cy="1284912"/>
          </a:xfrm>
        </p:grpSpPr>
        <p:sp>
          <p:nvSpPr>
            <p:cNvPr id="3" name="Freeform 3"/>
            <p:cNvSpPr/>
            <p:nvPr/>
          </p:nvSpPr>
          <p:spPr>
            <a:xfrm>
              <a:off x="0" y="0"/>
              <a:ext cx="9287668" cy="1284912"/>
            </a:xfrm>
            <a:custGeom>
              <a:avLst/>
              <a:gdLst/>
              <a:ahLst/>
              <a:cxnLst/>
              <a:rect l="l" t="t" r="r" b="b"/>
              <a:pathLst>
                <a:path w="9287668" h="1284912">
                  <a:moveTo>
                    <a:pt x="0" y="0"/>
                  </a:moveTo>
                  <a:lnTo>
                    <a:pt x="9287668" y="0"/>
                  </a:lnTo>
                  <a:lnTo>
                    <a:pt x="9287668" y="1284912"/>
                  </a:lnTo>
                  <a:lnTo>
                    <a:pt x="0" y="1284912"/>
                  </a:lnTo>
                  <a:close/>
                </a:path>
              </a:pathLst>
            </a:custGeom>
            <a:solidFill>
              <a:srgbClr val="000000">
                <a:alpha val="0"/>
              </a:srgbClr>
            </a:solidFill>
          </p:spPr>
        </p:sp>
        <p:sp>
          <p:nvSpPr>
            <p:cNvPr id="4" name="TextBox 4"/>
            <p:cNvSpPr txBox="1"/>
            <p:nvPr/>
          </p:nvSpPr>
          <p:spPr>
            <a:xfrm>
              <a:off x="0" y="-142875"/>
              <a:ext cx="9287668" cy="1427787"/>
            </a:xfrm>
            <a:prstGeom prst="rect">
              <a:avLst/>
            </a:prstGeom>
          </p:spPr>
          <p:txBody>
            <a:bodyPr lIns="0" tIns="0" rIns="0" bIns="0" rtlCol="0" anchor="t"/>
            <a:lstStyle/>
            <a:p>
              <a:pPr algn="l">
                <a:lnSpc>
                  <a:spcPts val="6812"/>
                </a:lnSpc>
              </a:pPr>
              <a:r>
                <a:rPr lang="en-US" sz="5437" i="1" spc="-103">
                  <a:solidFill>
                    <a:srgbClr val="749073"/>
                  </a:solidFill>
                  <a:latin typeface="Times New Roman Condensed Italics"/>
                  <a:ea typeface="Times New Roman Condensed Italics"/>
                  <a:cs typeface="Times New Roman Condensed Italics"/>
                  <a:sym typeface="Times New Roman Condensed Italics"/>
                </a:rPr>
                <a:t>Usage Guide</a:t>
              </a:r>
            </a:p>
          </p:txBody>
        </p:sp>
      </p:grpSp>
      <p:grpSp>
        <p:nvGrpSpPr>
          <p:cNvPr id="5" name="Group 5"/>
          <p:cNvGrpSpPr/>
          <p:nvPr/>
        </p:nvGrpSpPr>
        <p:grpSpPr>
          <a:xfrm>
            <a:off x="975122" y="2418457"/>
            <a:ext cx="2722810" cy="2051149"/>
            <a:chOff x="0" y="0"/>
            <a:chExt cx="3630413" cy="2734865"/>
          </a:xfrm>
        </p:grpSpPr>
        <p:sp>
          <p:nvSpPr>
            <p:cNvPr id="6" name="Freeform 6"/>
            <p:cNvSpPr/>
            <p:nvPr/>
          </p:nvSpPr>
          <p:spPr>
            <a:xfrm>
              <a:off x="0" y="0"/>
              <a:ext cx="3630422" cy="2734818"/>
            </a:xfrm>
            <a:custGeom>
              <a:avLst/>
              <a:gdLst/>
              <a:ahLst/>
              <a:cxnLst/>
              <a:rect l="l" t="t" r="r" b="b"/>
              <a:pathLst>
                <a:path w="3630422" h="2734818">
                  <a:moveTo>
                    <a:pt x="0" y="55753"/>
                  </a:moveTo>
                  <a:cubicBezTo>
                    <a:pt x="0" y="24892"/>
                    <a:pt x="24892" y="0"/>
                    <a:pt x="55753" y="0"/>
                  </a:cubicBezTo>
                  <a:lnTo>
                    <a:pt x="3574669" y="0"/>
                  </a:lnTo>
                  <a:cubicBezTo>
                    <a:pt x="3605403" y="0"/>
                    <a:pt x="3630422" y="24892"/>
                    <a:pt x="3630422" y="55753"/>
                  </a:cubicBezTo>
                  <a:lnTo>
                    <a:pt x="3630422" y="2679065"/>
                  </a:lnTo>
                  <a:cubicBezTo>
                    <a:pt x="3630422" y="2709799"/>
                    <a:pt x="3605530" y="2734818"/>
                    <a:pt x="3574669" y="2734818"/>
                  </a:cubicBezTo>
                  <a:lnTo>
                    <a:pt x="55753" y="2734818"/>
                  </a:lnTo>
                  <a:cubicBezTo>
                    <a:pt x="25019" y="2734818"/>
                    <a:pt x="0" y="2709926"/>
                    <a:pt x="0" y="2679065"/>
                  </a:cubicBezTo>
                  <a:close/>
                </a:path>
              </a:pathLst>
            </a:custGeom>
            <a:solidFill>
              <a:srgbClr val="8EAB8D"/>
            </a:solidFill>
          </p:spPr>
        </p:sp>
      </p:grpSp>
      <p:grpSp>
        <p:nvGrpSpPr>
          <p:cNvPr id="7" name="Group 7"/>
          <p:cNvGrpSpPr/>
          <p:nvPr/>
        </p:nvGrpSpPr>
        <p:grpSpPr>
          <a:xfrm>
            <a:off x="2140595" y="3199210"/>
            <a:ext cx="391716" cy="596051"/>
            <a:chOff x="0" y="0"/>
            <a:chExt cx="522288" cy="794734"/>
          </a:xfrm>
        </p:grpSpPr>
        <p:sp>
          <p:nvSpPr>
            <p:cNvPr id="8" name="Freeform 8"/>
            <p:cNvSpPr/>
            <p:nvPr/>
          </p:nvSpPr>
          <p:spPr>
            <a:xfrm>
              <a:off x="0" y="0"/>
              <a:ext cx="522288" cy="794734"/>
            </a:xfrm>
            <a:custGeom>
              <a:avLst/>
              <a:gdLst/>
              <a:ahLst/>
              <a:cxnLst/>
              <a:rect l="l" t="t" r="r" b="b"/>
              <a:pathLst>
                <a:path w="522288" h="794734">
                  <a:moveTo>
                    <a:pt x="0" y="0"/>
                  </a:moveTo>
                  <a:lnTo>
                    <a:pt x="522288" y="0"/>
                  </a:lnTo>
                  <a:lnTo>
                    <a:pt x="522288" y="794734"/>
                  </a:lnTo>
                  <a:lnTo>
                    <a:pt x="0" y="794734"/>
                  </a:lnTo>
                  <a:close/>
                </a:path>
              </a:pathLst>
            </a:custGeom>
            <a:solidFill>
              <a:srgbClr val="000000">
                <a:alpha val="0"/>
              </a:srgbClr>
            </a:solidFill>
          </p:spPr>
        </p:sp>
        <p:sp>
          <p:nvSpPr>
            <p:cNvPr id="9" name="TextBox 9"/>
            <p:cNvSpPr txBox="1"/>
            <p:nvPr/>
          </p:nvSpPr>
          <p:spPr>
            <a:xfrm>
              <a:off x="0" y="-114300"/>
              <a:ext cx="522288" cy="909034"/>
            </a:xfrm>
            <a:prstGeom prst="rect">
              <a:avLst/>
            </a:prstGeom>
          </p:spPr>
          <p:txBody>
            <a:bodyPr lIns="0" tIns="0" rIns="0" bIns="0" rtlCol="0" anchor="t"/>
            <a:lstStyle/>
            <a:p>
              <a:pPr algn="ctr">
                <a:lnSpc>
                  <a:spcPts val="4874"/>
                </a:lnSpc>
              </a:pPr>
              <a:r>
                <a:rPr lang="en-US" sz="3062" b="1">
                  <a:solidFill>
                    <a:srgbClr val="0E4714"/>
                  </a:solidFill>
                  <a:latin typeface="Gotham Bold"/>
                  <a:ea typeface="Gotham Bold"/>
                  <a:cs typeface="Gotham Bold"/>
                  <a:sym typeface="Gotham Bold"/>
                </a:rPr>
                <a:t>1</a:t>
              </a:r>
            </a:p>
          </p:txBody>
        </p:sp>
      </p:grpSp>
      <p:grpSp>
        <p:nvGrpSpPr>
          <p:cNvPr id="10" name="Group 10"/>
          <p:cNvGrpSpPr/>
          <p:nvPr/>
        </p:nvGrpSpPr>
        <p:grpSpPr>
          <a:xfrm>
            <a:off x="3976539" y="2697064"/>
            <a:ext cx="3482876" cy="521899"/>
            <a:chOff x="0" y="0"/>
            <a:chExt cx="4643835" cy="695865"/>
          </a:xfrm>
        </p:grpSpPr>
        <p:sp>
          <p:nvSpPr>
            <p:cNvPr id="11" name="Freeform 11"/>
            <p:cNvSpPr/>
            <p:nvPr/>
          </p:nvSpPr>
          <p:spPr>
            <a:xfrm>
              <a:off x="0" y="0"/>
              <a:ext cx="4643835" cy="695865"/>
            </a:xfrm>
            <a:custGeom>
              <a:avLst/>
              <a:gdLst/>
              <a:ahLst/>
              <a:cxnLst/>
              <a:rect l="l" t="t" r="r" b="b"/>
              <a:pathLst>
                <a:path w="4643835" h="695865">
                  <a:moveTo>
                    <a:pt x="0" y="0"/>
                  </a:moveTo>
                  <a:lnTo>
                    <a:pt x="4643835" y="0"/>
                  </a:lnTo>
                  <a:lnTo>
                    <a:pt x="4643835" y="695865"/>
                  </a:lnTo>
                  <a:lnTo>
                    <a:pt x="0" y="695865"/>
                  </a:lnTo>
                  <a:close/>
                </a:path>
              </a:pathLst>
            </a:custGeom>
            <a:solidFill>
              <a:srgbClr val="000000">
                <a:alpha val="0"/>
              </a:srgbClr>
            </a:solidFill>
          </p:spPr>
        </p:sp>
        <p:sp>
          <p:nvSpPr>
            <p:cNvPr id="12" name="TextBox 12"/>
            <p:cNvSpPr txBox="1"/>
            <p:nvPr/>
          </p:nvSpPr>
          <p:spPr>
            <a:xfrm>
              <a:off x="0" y="-19050"/>
              <a:ext cx="4643835" cy="714915"/>
            </a:xfrm>
            <a:prstGeom prst="rect">
              <a:avLst/>
            </a:prstGeom>
          </p:spPr>
          <p:txBody>
            <a:bodyPr lIns="0" tIns="0" rIns="0" bIns="0" rtlCol="0" anchor="t"/>
            <a:lstStyle/>
            <a:p>
              <a:pPr algn="l">
                <a:lnSpc>
                  <a:spcPts val="3374"/>
                </a:lnSpc>
              </a:pPr>
              <a:r>
                <a:rPr lang="en-US" sz="2687" b="1">
                  <a:solidFill>
                    <a:srgbClr val="0E4714"/>
                  </a:solidFill>
                  <a:latin typeface="Gotham Bold"/>
                  <a:ea typeface="Gotham Bold"/>
                  <a:cs typeface="Gotham Bold"/>
                  <a:sym typeface="Gotham Bold"/>
                </a:rPr>
                <a:t>Data Preparation</a:t>
              </a:r>
            </a:p>
          </p:txBody>
        </p:sp>
      </p:grpSp>
      <p:grpSp>
        <p:nvGrpSpPr>
          <p:cNvPr id="13" name="Group 13"/>
          <p:cNvGrpSpPr/>
          <p:nvPr/>
        </p:nvGrpSpPr>
        <p:grpSpPr>
          <a:xfrm>
            <a:off x="3976539" y="3299520"/>
            <a:ext cx="13057734" cy="891480"/>
            <a:chOff x="0" y="0"/>
            <a:chExt cx="17410312" cy="1188640"/>
          </a:xfrm>
        </p:grpSpPr>
        <p:sp>
          <p:nvSpPr>
            <p:cNvPr id="14" name="Freeform 14"/>
            <p:cNvSpPr/>
            <p:nvPr/>
          </p:nvSpPr>
          <p:spPr>
            <a:xfrm>
              <a:off x="0" y="0"/>
              <a:ext cx="17410312" cy="1188640"/>
            </a:xfrm>
            <a:custGeom>
              <a:avLst/>
              <a:gdLst/>
              <a:ahLst/>
              <a:cxnLst/>
              <a:rect l="l" t="t" r="r" b="b"/>
              <a:pathLst>
                <a:path w="17410312" h="1188640">
                  <a:moveTo>
                    <a:pt x="0" y="0"/>
                  </a:moveTo>
                  <a:lnTo>
                    <a:pt x="17410312" y="0"/>
                  </a:lnTo>
                  <a:lnTo>
                    <a:pt x="17410312" y="1188640"/>
                  </a:lnTo>
                  <a:lnTo>
                    <a:pt x="0" y="1188640"/>
                  </a:lnTo>
                  <a:close/>
                </a:path>
              </a:pathLst>
            </a:custGeom>
            <a:solidFill>
              <a:srgbClr val="000000">
                <a:alpha val="0"/>
              </a:srgbClr>
            </a:solidFill>
          </p:spPr>
        </p:sp>
        <p:sp>
          <p:nvSpPr>
            <p:cNvPr id="15" name="TextBox 15"/>
            <p:cNvSpPr txBox="1"/>
            <p:nvPr/>
          </p:nvSpPr>
          <p:spPr>
            <a:xfrm>
              <a:off x="0" y="-95250"/>
              <a:ext cx="17410312" cy="1283890"/>
            </a:xfrm>
            <a:prstGeom prst="rect">
              <a:avLst/>
            </a:prstGeom>
          </p:spPr>
          <p:txBody>
            <a:bodyPr lIns="0" tIns="0" rIns="0" bIns="0" rtlCol="0" anchor="t"/>
            <a:lstStyle/>
            <a:p>
              <a:pPr algn="l">
                <a:lnSpc>
                  <a:spcPts val="3500"/>
                </a:lnSpc>
              </a:pPr>
              <a:r>
                <a:rPr lang="en-US" sz="2187" spc="-32">
                  <a:solidFill>
                    <a:srgbClr val="0E4714"/>
                  </a:solidFill>
                  <a:latin typeface="Gotham"/>
                  <a:ea typeface="Gotham"/>
                  <a:cs typeface="Gotham"/>
                  <a:sym typeface="Gotham"/>
                </a:rPr>
                <a:t>Select "Generate Sample Data" or upload your own dataset, adjusting failure rate and sample size if generating data. Preprocess the data with the available options.</a:t>
              </a:r>
            </a:p>
          </p:txBody>
        </p:sp>
      </p:grpSp>
      <p:grpSp>
        <p:nvGrpSpPr>
          <p:cNvPr id="16" name="Group 16"/>
          <p:cNvGrpSpPr/>
          <p:nvPr/>
        </p:nvGrpSpPr>
        <p:grpSpPr>
          <a:xfrm>
            <a:off x="3837235" y="4450556"/>
            <a:ext cx="13336340" cy="19050"/>
            <a:chOff x="0" y="0"/>
            <a:chExt cx="17781787" cy="25400"/>
          </a:xfrm>
        </p:grpSpPr>
        <p:sp>
          <p:nvSpPr>
            <p:cNvPr id="17" name="Freeform 17"/>
            <p:cNvSpPr/>
            <p:nvPr/>
          </p:nvSpPr>
          <p:spPr>
            <a:xfrm>
              <a:off x="0" y="0"/>
              <a:ext cx="17781778" cy="25400"/>
            </a:xfrm>
            <a:custGeom>
              <a:avLst/>
              <a:gdLst/>
              <a:ahLst/>
              <a:cxnLst/>
              <a:rect l="l" t="t" r="r" b="b"/>
              <a:pathLst>
                <a:path w="17781778" h="25400">
                  <a:moveTo>
                    <a:pt x="0" y="12700"/>
                  </a:moveTo>
                  <a:cubicBezTo>
                    <a:pt x="0" y="5715"/>
                    <a:pt x="5715" y="0"/>
                    <a:pt x="12700" y="0"/>
                  </a:cubicBezTo>
                  <a:lnTo>
                    <a:pt x="17769078" y="0"/>
                  </a:lnTo>
                  <a:cubicBezTo>
                    <a:pt x="17776064" y="0"/>
                    <a:pt x="17781778" y="5715"/>
                    <a:pt x="17781778" y="12700"/>
                  </a:cubicBezTo>
                  <a:cubicBezTo>
                    <a:pt x="17781778" y="19685"/>
                    <a:pt x="17776064" y="25400"/>
                    <a:pt x="17769078" y="25400"/>
                  </a:cubicBezTo>
                  <a:lnTo>
                    <a:pt x="12700" y="25400"/>
                  </a:lnTo>
                  <a:cubicBezTo>
                    <a:pt x="5715" y="25400"/>
                    <a:pt x="0" y="19685"/>
                    <a:pt x="0" y="12700"/>
                  </a:cubicBezTo>
                  <a:close/>
                </a:path>
              </a:pathLst>
            </a:custGeom>
            <a:solidFill>
              <a:srgbClr val="2A5F2A"/>
            </a:solidFill>
          </p:spPr>
        </p:sp>
      </p:grpSp>
      <p:grpSp>
        <p:nvGrpSpPr>
          <p:cNvPr id="18" name="Group 18"/>
          <p:cNvGrpSpPr/>
          <p:nvPr/>
        </p:nvGrpSpPr>
        <p:grpSpPr>
          <a:xfrm>
            <a:off x="975122" y="4608910"/>
            <a:ext cx="5445770" cy="2051149"/>
            <a:chOff x="0" y="0"/>
            <a:chExt cx="7261027" cy="2734865"/>
          </a:xfrm>
        </p:grpSpPr>
        <p:sp>
          <p:nvSpPr>
            <p:cNvPr id="19" name="Freeform 19"/>
            <p:cNvSpPr/>
            <p:nvPr/>
          </p:nvSpPr>
          <p:spPr>
            <a:xfrm>
              <a:off x="0" y="0"/>
              <a:ext cx="7261098" cy="2734818"/>
            </a:xfrm>
            <a:custGeom>
              <a:avLst/>
              <a:gdLst/>
              <a:ahLst/>
              <a:cxnLst/>
              <a:rect l="l" t="t" r="r" b="b"/>
              <a:pathLst>
                <a:path w="7261098" h="2734818">
                  <a:moveTo>
                    <a:pt x="0" y="55753"/>
                  </a:moveTo>
                  <a:cubicBezTo>
                    <a:pt x="0" y="24892"/>
                    <a:pt x="24892" y="0"/>
                    <a:pt x="55753" y="0"/>
                  </a:cubicBezTo>
                  <a:lnTo>
                    <a:pt x="7205345" y="0"/>
                  </a:lnTo>
                  <a:cubicBezTo>
                    <a:pt x="7236078" y="0"/>
                    <a:pt x="7261098" y="24892"/>
                    <a:pt x="7261098" y="55753"/>
                  </a:cubicBezTo>
                  <a:lnTo>
                    <a:pt x="7261098" y="2679065"/>
                  </a:lnTo>
                  <a:cubicBezTo>
                    <a:pt x="7261098" y="2709799"/>
                    <a:pt x="7236206" y="2734818"/>
                    <a:pt x="7205345" y="2734818"/>
                  </a:cubicBezTo>
                  <a:lnTo>
                    <a:pt x="55753" y="2734818"/>
                  </a:lnTo>
                  <a:cubicBezTo>
                    <a:pt x="25019" y="2734818"/>
                    <a:pt x="0" y="2709926"/>
                    <a:pt x="0" y="2679065"/>
                  </a:cubicBezTo>
                  <a:close/>
                </a:path>
              </a:pathLst>
            </a:custGeom>
            <a:solidFill>
              <a:srgbClr val="8EAB8D"/>
            </a:solidFill>
          </p:spPr>
        </p:sp>
      </p:grpSp>
      <p:grpSp>
        <p:nvGrpSpPr>
          <p:cNvPr id="20" name="Group 20"/>
          <p:cNvGrpSpPr/>
          <p:nvPr/>
        </p:nvGrpSpPr>
        <p:grpSpPr>
          <a:xfrm>
            <a:off x="3502075" y="5389661"/>
            <a:ext cx="391716" cy="596051"/>
            <a:chOff x="0" y="0"/>
            <a:chExt cx="522288" cy="794734"/>
          </a:xfrm>
        </p:grpSpPr>
        <p:sp>
          <p:nvSpPr>
            <p:cNvPr id="21" name="Freeform 21"/>
            <p:cNvSpPr/>
            <p:nvPr/>
          </p:nvSpPr>
          <p:spPr>
            <a:xfrm>
              <a:off x="0" y="0"/>
              <a:ext cx="522288" cy="794734"/>
            </a:xfrm>
            <a:custGeom>
              <a:avLst/>
              <a:gdLst/>
              <a:ahLst/>
              <a:cxnLst/>
              <a:rect l="l" t="t" r="r" b="b"/>
              <a:pathLst>
                <a:path w="522288" h="794734">
                  <a:moveTo>
                    <a:pt x="0" y="0"/>
                  </a:moveTo>
                  <a:lnTo>
                    <a:pt x="522288" y="0"/>
                  </a:lnTo>
                  <a:lnTo>
                    <a:pt x="522288" y="794734"/>
                  </a:lnTo>
                  <a:lnTo>
                    <a:pt x="0" y="794734"/>
                  </a:lnTo>
                  <a:close/>
                </a:path>
              </a:pathLst>
            </a:custGeom>
            <a:solidFill>
              <a:srgbClr val="000000">
                <a:alpha val="0"/>
              </a:srgbClr>
            </a:solidFill>
          </p:spPr>
        </p:sp>
        <p:sp>
          <p:nvSpPr>
            <p:cNvPr id="22" name="TextBox 22"/>
            <p:cNvSpPr txBox="1"/>
            <p:nvPr/>
          </p:nvSpPr>
          <p:spPr>
            <a:xfrm>
              <a:off x="0" y="-114300"/>
              <a:ext cx="522288" cy="909034"/>
            </a:xfrm>
            <a:prstGeom prst="rect">
              <a:avLst/>
            </a:prstGeom>
          </p:spPr>
          <p:txBody>
            <a:bodyPr lIns="0" tIns="0" rIns="0" bIns="0" rtlCol="0" anchor="t"/>
            <a:lstStyle/>
            <a:p>
              <a:pPr algn="ctr">
                <a:lnSpc>
                  <a:spcPts val="4874"/>
                </a:lnSpc>
              </a:pPr>
              <a:r>
                <a:rPr lang="en-US" sz="3062" b="1">
                  <a:solidFill>
                    <a:srgbClr val="0E4714"/>
                  </a:solidFill>
                  <a:latin typeface="Gotham Bold"/>
                  <a:ea typeface="Gotham Bold"/>
                  <a:cs typeface="Gotham Bold"/>
                  <a:sym typeface="Gotham Bold"/>
                </a:rPr>
                <a:t>2</a:t>
              </a:r>
            </a:p>
          </p:txBody>
        </p:sp>
      </p:grpSp>
      <p:grpSp>
        <p:nvGrpSpPr>
          <p:cNvPr id="23" name="Group 23"/>
          <p:cNvGrpSpPr/>
          <p:nvPr/>
        </p:nvGrpSpPr>
        <p:grpSpPr>
          <a:xfrm>
            <a:off x="6699497" y="4887516"/>
            <a:ext cx="3482876" cy="521899"/>
            <a:chOff x="0" y="0"/>
            <a:chExt cx="4643835" cy="695865"/>
          </a:xfrm>
        </p:grpSpPr>
        <p:sp>
          <p:nvSpPr>
            <p:cNvPr id="24" name="Freeform 24"/>
            <p:cNvSpPr/>
            <p:nvPr/>
          </p:nvSpPr>
          <p:spPr>
            <a:xfrm>
              <a:off x="0" y="0"/>
              <a:ext cx="4643835" cy="695865"/>
            </a:xfrm>
            <a:custGeom>
              <a:avLst/>
              <a:gdLst/>
              <a:ahLst/>
              <a:cxnLst/>
              <a:rect l="l" t="t" r="r" b="b"/>
              <a:pathLst>
                <a:path w="4643835" h="695865">
                  <a:moveTo>
                    <a:pt x="0" y="0"/>
                  </a:moveTo>
                  <a:lnTo>
                    <a:pt x="4643835" y="0"/>
                  </a:lnTo>
                  <a:lnTo>
                    <a:pt x="4643835" y="695865"/>
                  </a:lnTo>
                  <a:lnTo>
                    <a:pt x="0" y="695865"/>
                  </a:lnTo>
                  <a:close/>
                </a:path>
              </a:pathLst>
            </a:custGeom>
            <a:solidFill>
              <a:srgbClr val="000000">
                <a:alpha val="0"/>
              </a:srgbClr>
            </a:solidFill>
          </p:spPr>
        </p:sp>
        <p:sp>
          <p:nvSpPr>
            <p:cNvPr id="25" name="TextBox 25"/>
            <p:cNvSpPr txBox="1"/>
            <p:nvPr/>
          </p:nvSpPr>
          <p:spPr>
            <a:xfrm>
              <a:off x="0" y="-19050"/>
              <a:ext cx="4643835" cy="714915"/>
            </a:xfrm>
            <a:prstGeom prst="rect">
              <a:avLst/>
            </a:prstGeom>
          </p:spPr>
          <p:txBody>
            <a:bodyPr lIns="0" tIns="0" rIns="0" bIns="0" rtlCol="0" anchor="t"/>
            <a:lstStyle/>
            <a:p>
              <a:pPr algn="l">
                <a:lnSpc>
                  <a:spcPts val="3374"/>
                </a:lnSpc>
              </a:pPr>
              <a:r>
                <a:rPr lang="en-US" sz="2687" b="1">
                  <a:solidFill>
                    <a:srgbClr val="0E4714"/>
                  </a:solidFill>
                  <a:latin typeface="Gotham Bold"/>
                  <a:ea typeface="Gotham Bold"/>
                  <a:cs typeface="Gotham Bold"/>
                  <a:sym typeface="Gotham Bold"/>
                </a:rPr>
                <a:t>Model Training</a:t>
              </a:r>
            </a:p>
          </p:txBody>
        </p:sp>
      </p:grpSp>
      <p:grpSp>
        <p:nvGrpSpPr>
          <p:cNvPr id="26" name="Group 26"/>
          <p:cNvGrpSpPr/>
          <p:nvPr/>
        </p:nvGrpSpPr>
        <p:grpSpPr>
          <a:xfrm>
            <a:off x="6699497" y="5489972"/>
            <a:ext cx="10334774" cy="891480"/>
            <a:chOff x="0" y="0"/>
            <a:chExt cx="13779698" cy="1188640"/>
          </a:xfrm>
        </p:grpSpPr>
        <p:sp>
          <p:nvSpPr>
            <p:cNvPr id="27" name="Freeform 27"/>
            <p:cNvSpPr/>
            <p:nvPr/>
          </p:nvSpPr>
          <p:spPr>
            <a:xfrm>
              <a:off x="0" y="0"/>
              <a:ext cx="13779698" cy="1188640"/>
            </a:xfrm>
            <a:custGeom>
              <a:avLst/>
              <a:gdLst/>
              <a:ahLst/>
              <a:cxnLst/>
              <a:rect l="l" t="t" r="r" b="b"/>
              <a:pathLst>
                <a:path w="13779698" h="1188640">
                  <a:moveTo>
                    <a:pt x="0" y="0"/>
                  </a:moveTo>
                  <a:lnTo>
                    <a:pt x="13779698" y="0"/>
                  </a:lnTo>
                  <a:lnTo>
                    <a:pt x="13779698" y="1188640"/>
                  </a:lnTo>
                  <a:lnTo>
                    <a:pt x="0" y="1188640"/>
                  </a:lnTo>
                  <a:close/>
                </a:path>
              </a:pathLst>
            </a:custGeom>
            <a:solidFill>
              <a:srgbClr val="000000">
                <a:alpha val="0"/>
              </a:srgbClr>
            </a:solidFill>
          </p:spPr>
        </p:sp>
        <p:sp>
          <p:nvSpPr>
            <p:cNvPr id="28" name="TextBox 28"/>
            <p:cNvSpPr txBox="1"/>
            <p:nvPr/>
          </p:nvSpPr>
          <p:spPr>
            <a:xfrm>
              <a:off x="0" y="-95250"/>
              <a:ext cx="13779698" cy="1283890"/>
            </a:xfrm>
            <a:prstGeom prst="rect">
              <a:avLst/>
            </a:prstGeom>
          </p:spPr>
          <p:txBody>
            <a:bodyPr lIns="0" tIns="0" rIns="0" bIns="0" rtlCol="0" anchor="t"/>
            <a:lstStyle/>
            <a:p>
              <a:pPr algn="l">
                <a:lnSpc>
                  <a:spcPts val="3500"/>
                </a:lnSpc>
              </a:pPr>
              <a:r>
                <a:rPr lang="en-US" sz="2187" spc="-32">
                  <a:solidFill>
                    <a:srgbClr val="0E4714"/>
                  </a:solidFill>
                  <a:latin typeface="Gotham"/>
                  <a:ea typeface="Gotham"/>
                  <a:cs typeface="Gotham"/>
                  <a:sym typeface="Gotham"/>
                </a:rPr>
                <a:t>Train at least one of the available models, adjusting model parameters as needed. Review feature importance plots for the Random Forest model.</a:t>
              </a:r>
            </a:p>
          </p:txBody>
        </p:sp>
      </p:grpSp>
      <p:grpSp>
        <p:nvGrpSpPr>
          <p:cNvPr id="29" name="Group 29"/>
          <p:cNvGrpSpPr/>
          <p:nvPr/>
        </p:nvGrpSpPr>
        <p:grpSpPr>
          <a:xfrm>
            <a:off x="6560195" y="6641009"/>
            <a:ext cx="10613380" cy="19050"/>
            <a:chOff x="0" y="0"/>
            <a:chExt cx="14151173" cy="25400"/>
          </a:xfrm>
        </p:grpSpPr>
        <p:sp>
          <p:nvSpPr>
            <p:cNvPr id="30" name="Freeform 30"/>
            <p:cNvSpPr/>
            <p:nvPr/>
          </p:nvSpPr>
          <p:spPr>
            <a:xfrm>
              <a:off x="0" y="0"/>
              <a:ext cx="14151229" cy="25400"/>
            </a:xfrm>
            <a:custGeom>
              <a:avLst/>
              <a:gdLst/>
              <a:ahLst/>
              <a:cxnLst/>
              <a:rect l="l" t="t" r="r" b="b"/>
              <a:pathLst>
                <a:path w="14151229" h="25400">
                  <a:moveTo>
                    <a:pt x="0" y="12700"/>
                  </a:moveTo>
                  <a:cubicBezTo>
                    <a:pt x="0" y="5715"/>
                    <a:pt x="5715" y="0"/>
                    <a:pt x="12700" y="0"/>
                  </a:cubicBezTo>
                  <a:lnTo>
                    <a:pt x="14138529" y="0"/>
                  </a:lnTo>
                  <a:cubicBezTo>
                    <a:pt x="14145515" y="0"/>
                    <a:pt x="14151229" y="5715"/>
                    <a:pt x="14151229" y="12700"/>
                  </a:cubicBezTo>
                  <a:cubicBezTo>
                    <a:pt x="14151229" y="19685"/>
                    <a:pt x="14145515" y="25400"/>
                    <a:pt x="14138529" y="25400"/>
                  </a:cubicBezTo>
                  <a:lnTo>
                    <a:pt x="12700" y="25400"/>
                  </a:lnTo>
                  <a:cubicBezTo>
                    <a:pt x="5715" y="25400"/>
                    <a:pt x="0" y="19685"/>
                    <a:pt x="0" y="12700"/>
                  </a:cubicBezTo>
                  <a:close/>
                </a:path>
              </a:pathLst>
            </a:custGeom>
            <a:solidFill>
              <a:srgbClr val="2A5F2A"/>
            </a:solidFill>
          </p:spPr>
        </p:sp>
      </p:grpSp>
      <p:grpSp>
        <p:nvGrpSpPr>
          <p:cNvPr id="31" name="Group 31"/>
          <p:cNvGrpSpPr/>
          <p:nvPr/>
        </p:nvGrpSpPr>
        <p:grpSpPr>
          <a:xfrm>
            <a:off x="975122" y="6799361"/>
            <a:ext cx="8168879" cy="2496890"/>
            <a:chOff x="0" y="0"/>
            <a:chExt cx="10891838" cy="3329187"/>
          </a:xfrm>
        </p:grpSpPr>
        <p:sp>
          <p:nvSpPr>
            <p:cNvPr id="32" name="Freeform 32"/>
            <p:cNvSpPr/>
            <p:nvPr/>
          </p:nvSpPr>
          <p:spPr>
            <a:xfrm>
              <a:off x="0" y="0"/>
              <a:ext cx="10891901" cy="3329178"/>
            </a:xfrm>
            <a:custGeom>
              <a:avLst/>
              <a:gdLst/>
              <a:ahLst/>
              <a:cxnLst/>
              <a:rect l="l" t="t" r="r" b="b"/>
              <a:pathLst>
                <a:path w="10891901" h="3329178">
                  <a:moveTo>
                    <a:pt x="0" y="55753"/>
                  </a:moveTo>
                  <a:cubicBezTo>
                    <a:pt x="0" y="24892"/>
                    <a:pt x="24892" y="0"/>
                    <a:pt x="55753" y="0"/>
                  </a:cubicBezTo>
                  <a:lnTo>
                    <a:pt x="10836148" y="0"/>
                  </a:lnTo>
                  <a:cubicBezTo>
                    <a:pt x="10866882" y="0"/>
                    <a:pt x="10891901" y="24892"/>
                    <a:pt x="10891901" y="55753"/>
                  </a:cubicBezTo>
                  <a:lnTo>
                    <a:pt x="10891901" y="3273425"/>
                  </a:lnTo>
                  <a:cubicBezTo>
                    <a:pt x="10891901" y="3304159"/>
                    <a:pt x="10867009" y="3329178"/>
                    <a:pt x="10836148" y="3329178"/>
                  </a:cubicBezTo>
                  <a:lnTo>
                    <a:pt x="55753" y="3329178"/>
                  </a:lnTo>
                  <a:cubicBezTo>
                    <a:pt x="25019" y="3329178"/>
                    <a:pt x="0" y="3304286"/>
                    <a:pt x="0" y="3273425"/>
                  </a:cubicBezTo>
                  <a:close/>
                </a:path>
              </a:pathLst>
            </a:custGeom>
            <a:solidFill>
              <a:srgbClr val="8EAB8D"/>
            </a:solidFill>
          </p:spPr>
        </p:sp>
      </p:grpSp>
      <p:grpSp>
        <p:nvGrpSpPr>
          <p:cNvPr id="33" name="Group 33"/>
          <p:cNvGrpSpPr/>
          <p:nvPr/>
        </p:nvGrpSpPr>
        <p:grpSpPr>
          <a:xfrm>
            <a:off x="4863702" y="7802910"/>
            <a:ext cx="391716" cy="596051"/>
            <a:chOff x="0" y="0"/>
            <a:chExt cx="522288" cy="794734"/>
          </a:xfrm>
        </p:grpSpPr>
        <p:sp>
          <p:nvSpPr>
            <p:cNvPr id="34" name="Freeform 34"/>
            <p:cNvSpPr/>
            <p:nvPr/>
          </p:nvSpPr>
          <p:spPr>
            <a:xfrm>
              <a:off x="0" y="0"/>
              <a:ext cx="522288" cy="794734"/>
            </a:xfrm>
            <a:custGeom>
              <a:avLst/>
              <a:gdLst/>
              <a:ahLst/>
              <a:cxnLst/>
              <a:rect l="l" t="t" r="r" b="b"/>
              <a:pathLst>
                <a:path w="522288" h="794734">
                  <a:moveTo>
                    <a:pt x="0" y="0"/>
                  </a:moveTo>
                  <a:lnTo>
                    <a:pt x="522288" y="0"/>
                  </a:lnTo>
                  <a:lnTo>
                    <a:pt x="522288" y="794734"/>
                  </a:lnTo>
                  <a:lnTo>
                    <a:pt x="0" y="794734"/>
                  </a:lnTo>
                  <a:close/>
                </a:path>
              </a:pathLst>
            </a:custGeom>
            <a:solidFill>
              <a:srgbClr val="000000">
                <a:alpha val="0"/>
              </a:srgbClr>
            </a:solidFill>
          </p:spPr>
        </p:sp>
        <p:sp>
          <p:nvSpPr>
            <p:cNvPr id="35" name="TextBox 35"/>
            <p:cNvSpPr txBox="1"/>
            <p:nvPr/>
          </p:nvSpPr>
          <p:spPr>
            <a:xfrm>
              <a:off x="0" y="-114300"/>
              <a:ext cx="522288" cy="909034"/>
            </a:xfrm>
            <a:prstGeom prst="rect">
              <a:avLst/>
            </a:prstGeom>
          </p:spPr>
          <p:txBody>
            <a:bodyPr lIns="0" tIns="0" rIns="0" bIns="0" rtlCol="0" anchor="t"/>
            <a:lstStyle/>
            <a:p>
              <a:pPr algn="ctr">
                <a:lnSpc>
                  <a:spcPts val="4874"/>
                </a:lnSpc>
              </a:pPr>
              <a:r>
                <a:rPr lang="en-US" sz="3062" b="1">
                  <a:solidFill>
                    <a:srgbClr val="0E4714"/>
                  </a:solidFill>
                  <a:latin typeface="Gotham Bold"/>
                  <a:ea typeface="Gotham Bold"/>
                  <a:cs typeface="Gotham Bold"/>
                  <a:sym typeface="Gotham Bold"/>
                </a:rPr>
                <a:t>3</a:t>
              </a:r>
            </a:p>
          </p:txBody>
        </p:sp>
      </p:grpSp>
      <p:grpSp>
        <p:nvGrpSpPr>
          <p:cNvPr id="36" name="Group 36"/>
          <p:cNvGrpSpPr/>
          <p:nvPr/>
        </p:nvGrpSpPr>
        <p:grpSpPr>
          <a:xfrm>
            <a:off x="9422606" y="7077967"/>
            <a:ext cx="3482876" cy="521899"/>
            <a:chOff x="0" y="0"/>
            <a:chExt cx="4643835" cy="695865"/>
          </a:xfrm>
        </p:grpSpPr>
        <p:sp>
          <p:nvSpPr>
            <p:cNvPr id="37" name="Freeform 37"/>
            <p:cNvSpPr/>
            <p:nvPr/>
          </p:nvSpPr>
          <p:spPr>
            <a:xfrm>
              <a:off x="0" y="0"/>
              <a:ext cx="4643835" cy="695865"/>
            </a:xfrm>
            <a:custGeom>
              <a:avLst/>
              <a:gdLst/>
              <a:ahLst/>
              <a:cxnLst/>
              <a:rect l="l" t="t" r="r" b="b"/>
              <a:pathLst>
                <a:path w="4643835" h="695865">
                  <a:moveTo>
                    <a:pt x="0" y="0"/>
                  </a:moveTo>
                  <a:lnTo>
                    <a:pt x="4643835" y="0"/>
                  </a:lnTo>
                  <a:lnTo>
                    <a:pt x="4643835" y="695865"/>
                  </a:lnTo>
                  <a:lnTo>
                    <a:pt x="0" y="695865"/>
                  </a:lnTo>
                  <a:close/>
                </a:path>
              </a:pathLst>
            </a:custGeom>
            <a:solidFill>
              <a:srgbClr val="000000">
                <a:alpha val="0"/>
              </a:srgbClr>
            </a:solidFill>
          </p:spPr>
        </p:sp>
        <p:sp>
          <p:nvSpPr>
            <p:cNvPr id="38" name="TextBox 38"/>
            <p:cNvSpPr txBox="1"/>
            <p:nvPr/>
          </p:nvSpPr>
          <p:spPr>
            <a:xfrm>
              <a:off x="0" y="-19050"/>
              <a:ext cx="4643835" cy="714915"/>
            </a:xfrm>
            <a:prstGeom prst="rect">
              <a:avLst/>
            </a:prstGeom>
          </p:spPr>
          <p:txBody>
            <a:bodyPr lIns="0" tIns="0" rIns="0" bIns="0" rtlCol="0" anchor="t"/>
            <a:lstStyle/>
            <a:p>
              <a:pPr algn="l">
                <a:lnSpc>
                  <a:spcPts val="3374"/>
                </a:lnSpc>
              </a:pPr>
              <a:r>
                <a:rPr lang="en-US" sz="2687" b="1">
                  <a:solidFill>
                    <a:srgbClr val="0E4714"/>
                  </a:solidFill>
                  <a:latin typeface="Gotham Bold"/>
                  <a:ea typeface="Gotham Bold"/>
                  <a:cs typeface="Gotham Bold"/>
                  <a:sym typeface="Gotham Bold"/>
                </a:rPr>
                <a:t>Model Evaluation</a:t>
              </a:r>
            </a:p>
          </p:txBody>
        </p:sp>
      </p:grpSp>
      <p:grpSp>
        <p:nvGrpSpPr>
          <p:cNvPr id="39" name="Group 39"/>
          <p:cNvGrpSpPr/>
          <p:nvPr/>
        </p:nvGrpSpPr>
        <p:grpSpPr>
          <a:xfrm>
            <a:off x="9422606" y="7680424"/>
            <a:ext cx="7611666" cy="1740654"/>
            <a:chOff x="0" y="0"/>
            <a:chExt cx="10148888" cy="2320872"/>
          </a:xfrm>
        </p:grpSpPr>
        <p:sp>
          <p:nvSpPr>
            <p:cNvPr id="40" name="Freeform 40"/>
            <p:cNvSpPr/>
            <p:nvPr/>
          </p:nvSpPr>
          <p:spPr>
            <a:xfrm>
              <a:off x="0" y="0"/>
              <a:ext cx="10148888" cy="2320872"/>
            </a:xfrm>
            <a:custGeom>
              <a:avLst/>
              <a:gdLst/>
              <a:ahLst/>
              <a:cxnLst/>
              <a:rect l="l" t="t" r="r" b="b"/>
              <a:pathLst>
                <a:path w="10148888" h="2320872">
                  <a:moveTo>
                    <a:pt x="0" y="0"/>
                  </a:moveTo>
                  <a:lnTo>
                    <a:pt x="10148888" y="0"/>
                  </a:lnTo>
                  <a:lnTo>
                    <a:pt x="10148888" y="2320872"/>
                  </a:lnTo>
                  <a:lnTo>
                    <a:pt x="0" y="2320872"/>
                  </a:lnTo>
                  <a:close/>
                </a:path>
              </a:pathLst>
            </a:custGeom>
            <a:solidFill>
              <a:srgbClr val="000000">
                <a:alpha val="0"/>
              </a:srgbClr>
            </a:solidFill>
          </p:spPr>
        </p:sp>
        <p:sp>
          <p:nvSpPr>
            <p:cNvPr id="41" name="TextBox 41"/>
            <p:cNvSpPr txBox="1"/>
            <p:nvPr/>
          </p:nvSpPr>
          <p:spPr>
            <a:xfrm>
              <a:off x="0" y="-95250"/>
              <a:ext cx="10148888" cy="2416122"/>
            </a:xfrm>
            <a:prstGeom prst="rect">
              <a:avLst/>
            </a:prstGeom>
          </p:spPr>
          <p:txBody>
            <a:bodyPr lIns="0" tIns="0" rIns="0" bIns="0" rtlCol="0" anchor="t"/>
            <a:lstStyle/>
            <a:p>
              <a:pPr algn="l">
                <a:lnSpc>
                  <a:spcPts val="3500"/>
                </a:lnSpc>
              </a:pPr>
              <a:r>
                <a:rPr lang="en-US" sz="2187" spc="-32">
                  <a:solidFill>
                    <a:srgbClr val="0E4714"/>
                  </a:solidFill>
                  <a:latin typeface="Gotham"/>
                  <a:ea typeface="Gotham"/>
                  <a:cs typeface="Gotham"/>
                  <a:sym typeface="Gotham"/>
                </a:rPr>
                <a:t>Evaluate model performance using the various metrics, comparing different models to select the best one. Analyze confusion matrices and performance visualizations.</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7803803" y="743099"/>
            <a:ext cx="9538395" cy="1689199"/>
            <a:chOff x="0" y="0"/>
            <a:chExt cx="12717860" cy="2252265"/>
          </a:xfrm>
        </p:grpSpPr>
        <p:sp>
          <p:nvSpPr>
            <p:cNvPr id="3" name="Freeform 3"/>
            <p:cNvSpPr/>
            <p:nvPr/>
          </p:nvSpPr>
          <p:spPr>
            <a:xfrm>
              <a:off x="0" y="0"/>
              <a:ext cx="12717860" cy="2252265"/>
            </a:xfrm>
            <a:custGeom>
              <a:avLst/>
              <a:gdLst/>
              <a:ahLst/>
              <a:cxnLst/>
              <a:rect l="l" t="t" r="r" b="b"/>
              <a:pathLst>
                <a:path w="12717860" h="2252265">
                  <a:moveTo>
                    <a:pt x="0" y="0"/>
                  </a:moveTo>
                  <a:lnTo>
                    <a:pt x="12717860" y="0"/>
                  </a:lnTo>
                  <a:lnTo>
                    <a:pt x="12717860" y="2252265"/>
                  </a:lnTo>
                  <a:lnTo>
                    <a:pt x="0" y="2252265"/>
                  </a:lnTo>
                  <a:close/>
                </a:path>
              </a:pathLst>
            </a:custGeom>
            <a:solidFill>
              <a:srgbClr val="000000">
                <a:alpha val="0"/>
              </a:srgbClr>
            </a:solidFill>
          </p:spPr>
        </p:sp>
        <p:sp>
          <p:nvSpPr>
            <p:cNvPr id="4" name="TextBox 4"/>
            <p:cNvSpPr txBox="1"/>
            <p:nvPr/>
          </p:nvSpPr>
          <p:spPr>
            <a:xfrm>
              <a:off x="0" y="-123825"/>
              <a:ext cx="12717860" cy="2376090"/>
            </a:xfrm>
            <a:prstGeom prst="rect">
              <a:avLst/>
            </a:prstGeom>
          </p:spPr>
          <p:txBody>
            <a:bodyPr lIns="0" tIns="0" rIns="0" bIns="0" rtlCol="0" anchor="t"/>
            <a:lstStyle/>
            <a:p>
              <a:pPr algn="l">
                <a:lnSpc>
                  <a:spcPts val="6625"/>
                </a:lnSpc>
              </a:pPr>
              <a:r>
                <a:rPr lang="en-US" sz="5312" i="1" spc="-100">
                  <a:solidFill>
                    <a:srgbClr val="749073"/>
                  </a:solidFill>
                  <a:latin typeface="Times New Roman Condensed Italics"/>
                  <a:ea typeface="Times New Roman Condensed Italics"/>
                  <a:cs typeface="Times New Roman Condensed Italics"/>
                  <a:sym typeface="Times New Roman Condensed Italics"/>
                </a:rPr>
                <a:t>Input Parameters and Attributes</a:t>
              </a:r>
            </a:p>
          </p:txBody>
        </p:sp>
      </p:grpSp>
      <p:sp>
        <p:nvSpPr>
          <p:cNvPr id="5" name="Freeform 5" descr="preencoded.png"/>
          <p:cNvSpPr/>
          <p:nvPr/>
        </p:nvSpPr>
        <p:spPr>
          <a:xfrm>
            <a:off x="7803803" y="2837557"/>
            <a:ext cx="675531" cy="675531"/>
          </a:xfrm>
          <a:custGeom>
            <a:avLst/>
            <a:gdLst/>
            <a:ahLst/>
            <a:cxnLst/>
            <a:rect l="l" t="t" r="r" b="b"/>
            <a:pathLst>
              <a:path w="675531" h="675531">
                <a:moveTo>
                  <a:pt x="0" y="0"/>
                </a:moveTo>
                <a:lnTo>
                  <a:pt x="675531" y="0"/>
                </a:lnTo>
                <a:lnTo>
                  <a:pt x="675531" y="675532"/>
                </a:lnTo>
                <a:lnTo>
                  <a:pt x="0" y="675532"/>
                </a:lnTo>
                <a:lnTo>
                  <a:pt x="0" y="0"/>
                </a:lnTo>
                <a:close/>
              </a:path>
            </a:pathLst>
          </a:custGeom>
          <a:blipFill>
            <a:blip r:embed="rId2"/>
            <a:stretch>
              <a:fillRect/>
            </a:stretch>
          </a:blipFill>
        </p:spPr>
      </p:sp>
      <p:grpSp>
        <p:nvGrpSpPr>
          <p:cNvPr id="6" name="Group 6"/>
          <p:cNvGrpSpPr/>
          <p:nvPr/>
        </p:nvGrpSpPr>
        <p:grpSpPr>
          <a:xfrm>
            <a:off x="7803803" y="3783211"/>
            <a:ext cx="2909292" cy="936577"/>
            <a:chOff x="0" y="0"/>
            <a:chExt cx="3879057" cy="1248770"/>
          </a:xfrm>
        </p:grpSpPr>
        <p:sp>
          <p:nvSpPr>
            <p:cNvPr id="7" name="Freeform 7"/>
            <p:cNvSpPr/>
            <p:nvPr/>
          </p:nvSpPr>
          <p:spPr>
            <a:xfrm>
              <a:off x="0" y="0"/>
              <a:ext cx="3879057" cy="1248770"/>
            </a:xfrm>
            <a:custGeom>
              <a:avLst/>
              <a:gdLst/>
              <a:ahLst/>
              <a:cxnLst/>
              <a:rect l="l" t="t" r="r" b="b"/>
              <a:pathLst>
                <a:path w="3879057" h="1248770">
                  <a:moveTo>
                    <a:pt x="0" y="0"/>
                  </a:moveTo>
                  <a:lnTo>
                    <a:pt x="3879057" y="0"/>
                  </a:lnTo>
                  <a:lnTo>
                    <a:pt x="3879057" y="1248770"/>
                  </a:lnTo>
                  <a:lnTo>
                    <a:pt x="0" y="1248770"/>
                  </a:lnTo>
                  <a:close/>
                </a:path>
              </a:pathLst>
            </a:custGeom>
            <a:solidFill>
              <a:srgbClr val="000000">
                <a:alpha val="0"/>
              </a:srgbClr>
            </a:solidFill>
          </p:spPr>
        </p:sp>
        <p:sp>
          <p:nvSpPr>
            <p:cNvPr id="8" name="TextBox 8"/>
            <p:cNvSpPr txBox="1"/>
            <p:nvPr/>
          </p:nvSpPr>
          <p:spPr>
            <a:xfrm>
              <a:off x="0" y="-19050"/>
              <a:ext cx="3879057" cy="1267820"/>
            </a:xfrm>
            <a:prstGeom prst="rect">
              <a:avLst/>
            </a:prstGeom>
          </p:spPr>
          <p:txBody>
            <a:bodyPr lIns="0" tIns="0" rIns="0" bIns="0" rtlCol="0" anchor="t"/>
            <a:lstStyle/>
            <a:p>
              <a:pPr algn="l">
                <a:lnSpc>
                  <a:spcPts val="3312"/>
                </a:lnSpc>
              </a:pPr>
              <a:r>
                <a:rPr lang="en-US" sz="2625" b="1">
                  <a:solidFill>
                    <a:srgbClr val="0E4714"/>
                  </a:solidFill>
                  <a:latin typeface="Gotham Bold"/>
                  <a:ea typeface="Gotham Bold"/>
                  <a:cs typeface="Gotham Bold"/>
                  <a:sym typeface="Gotham Bold"/>
                </a:rPr>
                <a:t>Node-level Metrics</a:t>
              </a:r>
            </a:p>
          </p:txBody>
        </p:sp>
      </p:grpSp>
      <p:grpSp>
        <p:nvGrpSpPr>
          <p:cNvPr id="9" name="Group 9"/>
          <p:cNvGrpSpPr/>
          <p:nvPr/>
        </p:nvGrpSpPr>
        <p:grpSpPr>
          <a:xfrm>
            <a:off x="7803803" y="4789735"/>
            <a:ext cx="2909292" cy="5020770"/>
            <a:chOff x="0" y="0"/>
            <a:chExt cx="3879057" cy="6694360"/>
          </a:xfrm>
        </p:grpSpPr>
        <p:sp>
          <p:nvSpPr>
            <p:cNvPr id="10" name="Freeform 10"/>
            <p:cNvSpPr/>
            <p:nvPr/>
          </p:nvSpPr>
          <p:spPr>
            <a:xfrm>
              <a:off x="0" y="0"/>
              <a:ext cx="3879057" cy="6694360"/>
            </a:xfrm>
            <a:custGeom>
              <a:avLst/>
              <a:gdLst/>
              <a:ahLst/>
              <a:cxnLst/>
              <a:rect l="l" t="t" r="r" b="b"/>
              <a:pathLst>
                <a:path w="3879057" h="6694360">
                  <a:moveTo>
                    <a:pt x="0" y="0"/>
                  </a:moveTo>
                  <a:lnTo>
                    <a:pt x="3879057" y="0"/>
                  </a:lnTo>
                  <a:lnTo>
                    <a:pt x="3879057" y="6694360"/>
                  </a:lnTo>
                  <a:lnTo>
                    <a:pt x="0" y="6694360"/>
                  </a:lnTo>
                  <a:close/>
                </a:path>
              </a:pathLst>
            </a:custGeom>
            <a:solidFill>
              <a:srgbClr val="000000">
                <a:alpha val="0"/>
              </a:srgbClr>
            </a:solidFill>
          </p:spPr>
        </p:sp>
        <p:sp>
          <p:nvSpPr>
            <p:cNvPr id="11" name="TextBox 11"/>
            <p:cNvSpPr txBox="1"/>
            <p:nvPr/>
          </p:nvSpPr>
          <p:spPr>
            <a:xfrm>
              <a:off x="0" y="-76200"/>
              <a:ext cx="3879057" cy="6770560"/>
            </a:xfrm>
            <a:prstGeom prst="rect">
              <a:avLst/>
            </a:prstGeom>
          </p:spPr>
          <p:txBody>
            <a:bodyPr lIns="0" tIns="0" rIns="0" bIns="0" rtlCol="0" anchor="t"/>
            <a:lstStyle/>
            <a:p>
              <a:pPr algn="l">
                <a:lnSpc>
                  <a:spcPts val="3374"/>
                </a:lnSpc>
              </a:pPr>
              <a:r>
                <a:rPr lang="en-US" sz="2125" spc="-31">
                  <a:solidFill>
                    <a:srgbClr val="0E4714"/>
                  </a:solidFill>
                  <a:latin typeface="Gotham"/>
                  <a:ea typeface="Gotham"/>
                  <a:cs typeface="Gotham"/>
                  <a:sym typeface="Gotham"/>
                </a:rPr>
                <a:t>CPU Usage (cpu_usage_percent), Memory Usage (memory_usage_percent), Disk Usage (disk_usage_percent), and Network Activity (network_receive_bytes, network_transmit_bytes).</a:t>
              </a:r>
            </a:p>
          </p:txBody>
        </p:sp>
      </p:grpSp>
      <p:sp>
        <p:nvSpPr>
          <p:cNvPr id="12" name="Freeform 12" descr="preencoded.png"/>
          <p:cNvSpPr/>
          <p:nvPr/>
        </p:nvSpPr>
        <p:spPr>
          <a:xfrm>
            <a:off x="11118354" y="2837557"/>
            <a:ext cx="675531" cy="675531"/>
          </a:xfrm>
          <a:custGeom>
            <a:avLst/>
            <a:gdLst/>
            <a:ahLst/>
            <a:cxnLst/>
            <a:rect l="l" t="t" r="r" b="b"/>
            <a:pathLst>
              <a:path w="675531" h="675531">
                <a:moveTo>
                  <a:pt x="0" y="0"/>
                </a:moveTo>
                <a:lnTo>
                  <a:pt x="675531" y="0"/>
                </a:lnTo>
                <a:lnTo>
                  <a:pt x="675531" y="675532"/>
                </a:lnTo>
                <a:lnTo>
                  <a:pt x="0" y="675532"/>
                </a:lnTo>
                <a:lnTo>
                  <a:pt x="0" y="0"/>
                </a:lnTo>
                <a:close/>
              </a:path>
            </a:pathLst>
          </a:custGeom>
          <a:blipFill>
            <a:blip r:embed="rId3"/>
            <a:stretch>
              <a:fillRect/>
            </a:stretch>
          </a:blipFill>
        </p:spPr>
      </p:sp>
      <p:grpSp>
        <p:nvGrpSpPr>
          <p:cNvPr id="13" name="Group 13"/>
          <p:cNvGrpSpPr/>
          <p:nvPr/>
        </p:nvGrpSpPr>
        <p:grpSpPr>
          <a:xfrm>
            <a:off x="11118354" y="3783211"/>
            <a:ext cx="2909293" cy="936577"/>
            <a:chOff x="0" y="0"/>
            <a:chExt cx="3879057" cy="1248770"/>
          </a:xfrm>
        </p:grpSpPr>
        <p:sp>
          <p:nvSpPr>
            <p:cNvPr id="14" name="Freeform 14"/>
            <p:cNvSpPr/>
            <p:nvPr/>
          </p:nvSpPr>
          <p:spPr>
            <a:xfrm>
              <a:off x="0" y="0"/>
              <a:ext cx="3879057" cy="1248770"/>
            </a:xfrm>
            <a:custGeom>
              <a:avLst/>
              <a:gdLst/>
              <a:ahLst/>
              <a:cxnLst/>
              <a:rect l="l" t="t" r="r" b="b"/>
              <a:pathLst>
                <a:path w="3879057" h="1248770">
                  <a:moveTo>
                    <a:pt x="0" y="0"/>
                  </a:moveTo>
                  <a:lnTo>
                    <a:pt x="3879057" y="0"/>
                  </a:lnTo>
                  <a:lnTo>
                    <a:pt x="3879057" y="1248770"/>
                  </a:lnTo>
                  <a:lnTo>
                    <a:pt x="0" y="1248770"/>
                  </a:lnTo>
                  <a:close/>
                </a:path>
              </a:pathLst>
            </a:custGeom>
            <a:solidFill>
              <a:srgbClr val="000000">
                <a:alpha val="0"/>
              </a:srgbClr>
            </a:solidFill>
          </p:spPr>
        </p:sp>
        <p:sp>
          <p:nvSpPr>
            <p:cNvPr id="15" name="TextBox 15"/>
            <p:cNvSpPr txBox="1"/>
            <p:nvPr/>
          </p:nvSpPr>
          <p:spPr>
            <a:xfrm>
              <a:off x="0" y="-19050"/>
              <a:ext cx="3879057" cy="1267820"/>
            </a:xfrm>
            <a:prstGeom prst="rect">
              <a:avLst/>
            </a:prstGeom>
          </p:spPr>
          <p:txBody>
            <a:bodyPr lIns="0" tIns="0" rIns="0" bIns="0" rtlCol="0" anchor="t"/>
            <a:lstStyle/>
            <a:p>
              <a:pPr algn="l">
                <a:lnSpc>
                  <a:spcPts val="3312"/>
                </a:lnSpc>
              </a:pPr>
              <a:r>
                <a:rPr lang="en-US" sz="2625" b="1">
                  <a:solidFill>
                    <a:srgbClr val="0E4714"/>
                  </a:solidFill>
                  <a:latin typeface="Gotham Bold"/>
                  <a:ea typeface="Gotham Bold"/>
                  <a:cs typeface="Gotham Bold"/>
                  <a:sym typeface="Gotham Bold"/>
                </a:rPr>
                <a:t>Pod-related Metrics</a:t>
              </a:r>
            </a:p>
          </p:txBody>
        </p:sp>
      </p:grpSp>
      <p:grpSp>
        <p:nvGrpSpPr>
          <p:cNvPr id="16" name="Group 16"/>
          <p:cNvGrpSpPr/>
          <p:nvPr/>
        </p:nvGrpSpPr>
        <p:grpSpPr>
          <a:xfrm>
            <a:off x="11118354" y="4789735"/>
            <a:ext cx="2909293" cy="3344370"/>
            <a:chOff x="0" y="0"/>
            <a:chExt cx="3879057" cy="4459160"/>
          </a:xfrm>
        </p:grpSpPr>
        <p:sp>
          <p:nvSpPr>
            <p:cNvPr id="17" name="Freeform 17"/>
            <p:cNvSpPr/>
            <p:nvPr/>
          </p:nvSpPr>
          <p:spPr>
            <a:xfrm>
              <a:off x="0" y="0"/>
              <a:ext cx="3879057" cy="4459160"/>
            </a:xfrm>
            <a:custGeom>
              <a:avLst/>
              <a:gdLst/>
              <a:ahLst/>
              <a:cxnLst/>
              <a:rect l="l" t="t" r="r" b="b"/>
              <a:pathLst>
                <a:path w="3879057" h="4459160">
                  <a:moveTo>
                    <a:pt x="0" y="0"/>
                  </a:moveTo>
                  <a:lnTo>
                    <a:pt x="3879057" y="0"/>
                  </a:lnTo>
                  <a:lnTo>
                    <a:pt x="3879057" y="4459160"/>
                  </a:lnTo>
                  <a:lnTo>
                    <a:pt x="0" y="4459160"/>
                  </a:lnTo>
                  <a:close/>
                </a:path>
              </a:pathLst>
            </a:custGeom>
            <a:solidFill>
              <a:srgbClr val="000000">
                <a:alpha val="0"/>
              </a:srgbClr>
            </a:solidFill>
          </p:spPr>
        </p:sp>
        <p:sp>
          <p:nvSpPr>
            <p:cNvPr id="18" name="TextBox 18"/>
            <p:cNvSpPr txBox="1"/>
            <p:nvPr/>
          </p:nvSpPr>
          <p:spPr>
            <a:xfrm>
              <a:off x="0" y="-76200"/>
              <a:ext cx="3879057" cy="4535360"/>
            </a:xfrm>
            <a:prstGeom prst="rect">
              <a:avLst/>
            </a:prstGeom>
          </p:spPr>
          <p:txBody>
            <a:bodyPr lIns="0" tIns="0" rIns="0" bIns="0" rtlCol="0" anchor="t"/>
            <a:lstStyle/>
            <a:p>
              <a:pPr algn="l">
                <a:lnSpc>
                  <a:spcPts val="3374"/>
                </a:lnSpc>
              </a:pPr>
              <a:r>
                <a:rPr lang="en-US" sz="2125" spc="-31">
                  <a:solidFill>
                    <a:srgbClr val="0E4714"/>
                  </a:solidFill>
                  <a:latin typeface="Gotham"/>
                  <a:ea typeface="Gotham"/>
                  <a:cs typeface="Gotham"/>
                  <a:sym typeface="Gotham"/>
                </a:rPr>
                <a:t>Pod Count (pod_count), Pod Restart Count (pod_restart_count), and Pod Pending Count (pod_pending_count).</a:t>
              </a:r>
            </a:p>
          </p:txBody>
        </p:sp>
      </p:grpSp>
      <p:sp>
        <p:nvSpPr>
          <p:cNvPr id="19" name="Freeform 19" descr="preencoded.png"/>
          <p:cNvSpPr/>
          <p:nvPr/>
        </p:nvSpPr>
        <p:spPr>
          <a:xfrm>
            <a:off x="14432905" y="2837557"/>
            <a:ext cx="675531" cy="675531"/>
          </a:xfrm>
          <a:custGeom>
            <a:avLst/>
            <a:gdLst/>
            <a:ahLst/>
            <a:cxnLst/>
            <a:rect l="l" t="t" r="r" b="b"/>
            <a:pathLst>
              <a:path w="675531" h="675531">
                <a:moveTo>
                  <a:pt x="0" y="0"/>
                </a:moveTo>
                <a:lnTo>
                  <a:pt x="675531" y="0"/>
                </a:lnTo>
                <a:lnTo>
                  <a:pt x="675531" y="675532"/>
                </a:lnTo>
                <a:lnTo>
                  <a:pt x="0" y="675532"/>
                </a:lnTo>
                <a:lnTo>
                  <a:pt x="0" y="0"/>
                </a:lnTo>
                <a:close/>
              </a:path>
            </a:pathLst>
          </a:custGeom>
          <a:blipFill>
            <a:blip r:embed="rId4"/>
            <a:stretch>
              <a:fillRect/>
            </a:stretch>
          </a:blipFill>
        </p:spPr>
      </p:sp>
      <p:grpSp>
        <p:nvGrpSpPr>
          <p:cNvPr id="20" name="Group 20"/>
          <p:cNvGrpSpPr/>
          <p:nvPr/>
        </p:nvGrpSpPr>
        <p:grpSpPr>
          <a:xfrm>
            <a:off x="14432905" y="3783211"/>
            <a:ext cx="2909293" cy="936577"/>
            <a:chOff x="0" y="0"/>
            <a:chExt cx="3879057" cy="1248770"/>
          </a:xfrm>
        </p:grpSpPr>
        <p:sp>
          <p:nvSpPr>
            <p:cNvPr id="21" name="Freeform 21"/>
            <p:cNvSpPr/>
            <p:nvPr/>
          </p:nvSpPr>
          <p:spPr>
            <a:xfrm>
              <a:off x="0" y="0"/>
              <a:ext cx="3879057" cy="1248770"/>
            </a:xfrm>
            <a:custGeom>
              <a:avLst/>
              <a:gdLst/>
              <a:ahLst/>
              <a:cxnLst/>
              <a:rect l="l" t="t" r="r" b="b"/>
              <a:pathLst>
                <a:path w="3879057" h="1248770">
                  <a:moveTo>
                    <a:pt x="0" y="0"/>
                  </a:moveTo>
                  <a:lnTo>
                    <a:pt x="3879057" y="0"/>
                  </a:lnTo>
                  <a:lnTo>
                    <a:pt x="3879057" y="1248770"/>
                  </a:lnTo>
                  <a:lnTo>
                    <a:pt x="0" y="1248770"/>
                  </a:lnTo>
                  <a:close/>
                </a:path>
              </a:pathLst>
            </a:custGeom>
            <a:solidFill>
              <a:srgbClr val="000000">
                <a:alpha val="0"/>
              </a:srgbClr>
            </a:solidFill>
          </p:spPr>
        </p:sp>
        <p:sp>
          <p:nvSpPr>
            <p:cNvPr id="22" name="TextBox 22"/>
            <p:cNvSpPr txBox="1"/>
            <p:nvPr/>
          </p:nvSpPr>
          <p:spPr>
            <a:xfrm>
              <a:off x="0" y="-19050"/>
              <a:ext cx="3879057" cy="1267820"/>
            </a:xfrm>
            <a:prstGeom prst="rect">
              <a:avLst/>
            </a:prstGeom>
          </p:spPr>
          <p:txBody>
            <a:bodyPr lIns="0" tIns="0" rIns="0" bIns="0" rtlCol="0" anchor="t"/>
            <a:lstStyle/>
            <a:p>
              <a:pPr algn="l">
                <a:lnSpc>
                  <a:spcPts val="3312"/>
                </a:lnSpc>
              </a:pPr>
              <a:r>
                <a:rPr lang="en-US" sz="2625" b="1">
                  <a:solidFill>
                    <a:srgbClr val="0E4714"/>
                  </a:solidFill>
                  <a:latin typeface="Gotham Bold"/>
                  <a:ea typeface="Gotham Bold"/>
                  <a:cs typeface="Gotham Bold"/>
                  <a:sym typeface="Gotham Bold"/>
                </a:rPr>
                <a:t>Resource Quota Metrics</a:t>
              </a:r>
            </a:p>
          </p:txBody>
        </p:sp>
      </p:grpSp>
      <p:grpSp>
        <p:nvGrpSpPr>
          <p:cNvPr id="23" name="Group 23"/>
          <p:cNvGrpSpPr/>
          <p:nvPr/>
        </p:nvGrpSpPr>
        <p:grpSpPr>
          <a:xfrm>
            <a:off x="14432905" y="4789735"/>
            <a:ext cx="2909293" cy="3026420"/>
            <a:chOff x="0" y="0"/>
            <a:chExt cx="3879057" cy="4035227"/>
          </a:xfrm>
        </p:grpSpPr>
        <p:sp>
          <p:nvSpPr>
            <p:cNvPr id="24" name="Freeform 24"/>
            <p:cNvSpPr/>
            <p:nvPr/>
          </p:nvSpPr>
          <p:spPr>
            <a:xfrm>
              <a:off x="0" y="0"/>
              <a:ext cx="3879057" cy="4035227"/>
            </a:xfrm>
            <a:custGeom>
              <a:avLst/>
              <a:gdLst/>
              <a:ahLst/>
              <a:cxnLst/>
              <a:rect l="l" t="t" r="r" b="b"/>
              <a:pathLst>
                <a:path w="3879057" h="4035227">
                  <a:moveTo>
                    <a:pt x="0" y="0"/>
                  </a:moveTo>
                  <a:lnTo>
                    <a:pt x="3879057" y="0"/>
                  </a:lnTo>
                  <a:lnTo>
                    <a:pt x="3879057" y="4035227"/>
                  </a:lnTo>
                  <a:lnTo>
                    <a:pt x="0" y="4035227"/>
                  </a:lnTo>
                  <a:close/>
                </a:path>
              </a:pathLst>
            </a:custGeom>
            <a:solidFill>
              <a:srgbClr val="000000">
                <a:alpha val="0"/>
              </a:srgbClr>
            </a:solidFill>
          </p:spPr>
        </p:sp>
        <p:sp>
          <p:nvSpPr>
            <p:cNvPr id="25" name="TextBox 25"/>
            <p:cNvSpPr txBox="1"/>
            <p:nvPr/>
          </p:nvSpPr>
          <p:spPr>
            <a:xfrm>
              <a:off x="0" y="-76200"/>
              <a:ext cx="3879057" cy="4111427"/>
            </a:xfrm>
            <a:prstGeom prst="rect">
              <a:avLst/>
            </a:prstGeom>
          </p:spPr>
          <p:txBody>
            <a:bodyPr lIns="0" tIns="0" rIns="0" bIns="0" rtlCol="0" anchor="t"/>
            <a:lstStyle/>
            <a:p>
              <a:pPr algn="l">
                <a:lnSpc>
                  <a:spcPts val="3374"/>
                </a:lnSpc>
              </a:pPr>
              <a:r>
                <a:rPr lang="en-US" sz="2125" spc="-31">
                  <a:solidFill>
                    <a:srgbClr val="0E4714"/>
                  </a:solidFill>
                  <a:latin typeface="Gotham"/>
                  <a:ea typeface="Gotham"/>
                  <a:cs typeface="Gotham"/>
                  <a:sym typeface="Gotham"/>
                </a:rPr>
                <a:t>CPU Request Percentage (cpu_request_percentage) and Memory Request Percentage (memory_request_percentage).</a:t>
              </a:r>
            </a:p>
          </p:txBody>
        </p:sp>
      </p:grpSp>
      <p:sp>
        <p:nvSpPr>
          <p:cNvPr id="26" name="Freeform 26"/>
          <p:cNvSpPr/>
          <p:nvPr/>
        </p:nvSpPr>
        <p:spPr>
          <a:xfrm>
            <a:off x="0" y="390957"/>
            <a:ext cx="6794602" cy="8867343"/>
          </a:xfrm>
          <a:custGeom>
            <a:avLst/>
            <a:gdLst/>
            <a:ahLst/>
            <a:cxnLst/>
            <a:rect l="l" t="t" r="r" b="b"/>
            <a:pathLst>
              <a:path w="6794602" h="8867343">
                <a:moveTo>
                  <a:pt x="0" y="0"/>
                </a:moveTo>
                <a:lnTo>
                  <a:pt x="6794602" y="0"/>
                </a:lnTo>
                <a:lnTo>
                  <a:pt x="6794602" y="8867343"/>
                </a:lnTo>
                <a:lnTo>
                  <a:pt x="0" y="8867343"/>
                </a:lnTo>
                <a:lnTo>
                  <a:pt x="0" y="0"/>
                </a:lnTo>
                <a:close/>
              </a:path>
            </a:pathLst>
          </a:custGeom>
          <a:blipFill>
            <a:blip r:embed="rId5"/>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AE0"/>
        </a:solidFill>
        <a:effectLst/>
      </p:bgPr>
    </p:bg>
    <p:spTree>
      <p:nvGrpSpPr>
        <p:cNvPr id="1" name=""/>
        <p:cNvGrpSpPr/>
        <p:nvPr/>
      </p:nvGrpSpPr>
      <p:grpSpPr>
        <a:xfrm>
          <a:off x="0" y="0"/>
          <a:ext cx="0" cy="0"/>
          <a:chOff x="0" y="0"/>
          <a:chExt cx="0" cy="0"/>
        </a:xfrm>
      </p:grpSpPr>
      <p:grpSp>
        <p:nvGrpSpPr>
          <p:cNvPr id="2" name="Group 2"/>
          <p:cNvGrpSpPr/>
          <p:nvPr/>
        </p:nvGrpSpPr>
        <p:grpSpPr>
          <a:xfrm>
            <a:off x="992237" y="1550045"/>
            <a:ext cx="16099334" cy="989195"/>
            <a:chOff x="0" y="0"/>
            <a:chExt cx="21465778" cy="1318927"/>
          </a:xfrm>
        </p:grpSpPr>
        <p:sp>
          <p:nvSpPr>
            <p:cNvPr id="3" name="Freeform 3"/>
            <p:cNvSpPr/>
            <p:nvPr/>
          </p:nvSpPr>
          <p:spPr>
            <a:xfrm>
              <a:off x="0" y="0"/>
              <a:ext cx="21465778" cy="1318927"/>
            </a:xfrm>
            <a:custGeom>
              <a:avLst/>
              <a:gdLst/>
              <a:ahLst/>
              <a:cxnLst/>
              <a:rect l="l" t="t" r="r" b="b"/>
              <a:pathLst>
                <a:path w="21465778" h="1318927">
                  <a:moveTo>
                    <a:pt x="0" y="0"/>
                  </a:moveTo>
                  <a:lnTo>
                    <a:pt x="21465778" y="0"/>
                  </a:lnTo>
                  <a:lnTo>
                    <a:pt x="21465778" y="1318927"/>
                  </a:lnTo>
                  <a:lnTo>
                    <a:pt x="0" y="1318927"/>
                  </a:lnTo>
                  <a:close/>
                </a:path>
              </a:pathLst>
            </a:custGeom>
            <a:solidFill>
              <a:srgbClr val="000000">
                <a:alpha val="0"/>
              </a:srgbClr>
            </a:solidFill>
          </p:spPr>
        </p:sp>
        <p:sp>
          <p:nvSpPr>
            <p:cNvPr id="4" name="TextBox 4"/>
            <p:cNvSpPr txBox="1"/>
            <p:nvPr/>
          </p:nvSpPr>
          <p:spPr>
            <a:xfrm>
              <a:off x="0" y="-142875"/>
              <a:ext cx="21465778" cy="1461802"/>
            </a:xfrm>
            <a:prstGeom prst="rect">
              <a:avLst/>
            </a:prstGeom>
          </p:spPr>
          <p:txBody>
            <a:bodyPr lIns="0" tIns="0" rIns="0" bIns="0" rtlCol="0" anchor="t"/>
            <a:lstStyle/>
            <a:p>
              <a:pPr algn="l">
                <a:lnSpc>
                  <a:spcPts val="6937"/>
                </a:lnSpc>
              </a:pPr>
              <a:r>
                <a:rPr lang="en-US" sz="5562" i="1" spc="-105">
                  <a:solidFill>
                    <a:srgbClr val="0E4714"/>
                  </a:solidFill>
                  <a:latin typeface="Times New Roman Condensed Italics"/>
                  <a:ea typeface="Times New Roman Condensed Italics"/>
                  <a:cs typeface="Times New Roman Condensed Italics"/>
                  <a:sym typeface="Times New Roman Condensed Italics"/>
                </a:rPr>
                <a:t>Node Condition Indicators and Failure Patterns</a:t>
              </a:r>
            </a:p>
          </p:txBody>
        </p:sp>
      </p:grpSp>
      <p:grpSp>
        <p:nvGrpSpPr>
          <p:cNvPr id="5" name="Group 5"/>
          <p:cNvGrpSpPr/>
          <p:nvPr/>
        </p:nvGrpSpPr>
        <p:grpSpPr>
          <a:xfrm>
            <a:off x="1098649" y="4198723"/>
            <a:ext cx="4518720" cy="964470"/>
            <a:chOff x="0" y="0"/>
            <a:chExt cx="6024960" cy="1285960"/>
          </a:xfrm>
        </p:grpSpPr>
        <p:sp>
          <p:nvSpPr>
            <p:cNvPr id="6" name="Freeform 6"/>
            <p:cNvSpPr/>
            <p:nvPr/>
          </p:nvSpPr>
          <p:spPr>
            <a:xfrm>
              <a:off x="0" y="0"/>
              <a:ext cx="6024960" cy="1285960"/>
            </a:xfrm>
            <a:custGeom>
              <a:avLst/>
              <a:gdLst/>
              <a:ahLst/>
              <a:cxnLst/>
              <a:rect l="l" t="t" r="r" b="b"/>
              <a:pathLst>
                <a:path w="6024960" h="1285960">
                  <a:moveTo>
                    <a:pt x="0" y="0"/>
                  </a:moveTo>
                  <a:lnTo>
                    <a:pt x="6024960" y="0"/>
                  </a:lnTo>
                  <a:lnTo>
                    <a:pt x="6024960" y="1285960"/>
                  </a:lnTo>
                  <a:lnTo>
                    <a:pt x="0" y="1285960"/>
                  </a:lnTo>
                  <a:close/>
                </a:path>
              </a:pathLst>
            </a:custGeom>
            <a:solidFill>
              <a:srgbClr val="000000">
                <a:alpha val="0"/>
              </a:srgbClr>
            </a:solidFill>
          </p:spPr>
        </p:sp>
        <p:sp>
          <p:nvSpPr>
            <p:cNvPr id="7" name="TextBox 7"/>
            <p:cNvSpPr txBox="1"/>
            <p:nvPr/>
          </p:nvSpPr>
          <p:spPr>
            <a:xfrm>
              <a:off x="0" y="-19050"/>
              <a:ext cx="6024960" cy="1305010"/>
            </a:xfrm>
            <a:prstGeom prst="rect">
              <a:avLst/>
            </a:prstGeom>
          </p:spPr>
          <p:txBody>
            <a:bodyPr lIns="0" tIns="0" rIns="0" bIns="0" rtlCol="0" anchor="t"/>
            <a:lstStyle/>
            <a:p>
              <a:pPr algn="r">
                <a:lnSpc>
                  <a:spcPts val="3437"/>
                </a:lnSpc>
              </a:pPr>
              <a:r>
                <a:rPr lang="en-US" sz="2750" b="1">
                  <a:solidFill>
                    <a:srgbClr val="749073"/>
                  </a:solidFill>
                  <a:latin typeface="Gotham Bold"/>
                  <a:ea typeface="Gotham Bold"/>
                  <a:cs typeface="Gotham Bold"/>
                  <a:sym typeface="Gotham Bold"/>
                </a:rPr>
                <a:t>Node Condition Indicators</a:t>
              </a:r>
            </a:p>
          </p:txBody>
        </p:sp>
      </p:grpSp>
      <p:grpSp>
        <p:nvGrpSpPr>
          <p:cNvPr id="8" name="Group 8"/>
          <p:cNvGrpSpPr/>
          <p:nvPr/>
        </p:nvGrpSpPr>
        <p:grpSpPr>
          <a:xfrm>
            <a:off x="992237" y="5042446"/>
            <a:ext cx="4731544" cy="2268141"/>
            <a:chOff x="0" y="0"/>
            <a:chExt cx="6308725" cy="3024188"/>
          </a:xfrm>
        </p:grpSpPr>
        <p:sp>
          <p:nvSpPr>
            <p:cNvPr id="9" name="Freeform 9"/>
            <p:cNvSpPr/>
            <p:nvPr/>
          </p:nvSpPr>
          <p:spPr>
            <a:xfrm>
              <a:off x="0" y="0"/>
              <a:ext cx="6308725" cy="3024188"/>
            </a:xfrm>
            <a:custGeom>
              <a:avLst/>
              <a:gdLst/>
              <a:ahLst/>
              <a:cxnLst/>
              <a:rect l="l" t="t" r="r" b="b"/>
              <a:pathLst>
                <a:path w="6308725" h="3024188">
                  <a:moveTo>
                    <a:pt x="0" y="0"/>
                  </a:moveTo>
                  <a:lnTo>
                    <a:pt x="6308725" y="0"/>
                  </a:lnTo>
                  <a:lnTo>
                    <a:pt x="6308725" y="3024188"/>
                  </a:lnTo>
                  <a:lnTo>
                    <a:pt x="0" y="3024188"/>
                  </a:lnTo>
                  <a:close/>
                </a:path>
              </a:pathLst>
            </a:custGeom>
            <a:solidFill>
              <a:srgbClr val="000000">
                <a:alpha val="0"/>
              </a:srgbClr>
            </a:solidFill>
          </p:spPr>
        </p:sp>
        <p:sp>
          <p:nvSpPr>
            <p:cNvPr id="10" name="TextBox 10"/>
            <p:cNvSpPr txBox="1"/>
            <p:nvPr/>
          </p:nvSpPr>
          <p:spPr>
            <a:xfrm>
              <a:off x="0" y="-95250"/>
              <a:ext cx="6308725" cy="3119438"/>
            </a:xfrm>
            <a:prstGeom prst="rect">
              <a:avLst/>
            </a:prstGeom>
          </p:spPr>
          <p:txBody>
            <a:bodyPr lIns="0" tIns="0" rIns="0" bIns="0" rtlCol="0" anchor="t"/>
            <a:lstStyle/>
            <a:p>
              <a:pPr algn="r">
                <a:lnSpc>
                  <a:spcPts val="3562"/>
                </a:lnSpc>
              </a:pPr>
              <a:r>
                <a:rPr lang="en-US" sz="2187" spc="-32">
                  <a:solidFill>
                    <a:srgbClr val="749073"/>
                  </a:solidFill>
                  <a:latin typeface="Gotham"/>
                  <a:ea typeface="Gotham"/>
                  <a:cs typeface="Gotham"/>
                  <a:sym typeface="Gotham"/>
                </a:rPr>
                <a:t>Node Ready Status, Memory Pressure, Disk Pressure, PID Pressure, and Network Unavailable to provide real-time health assessments.</a:t>
              </a:r>
            </a:p>
          </p:txBody>
        </p:sp>
      </p:grpSp>
      <p:sp>
        <p:nvSpPr>
          <p:cNvPr id="11" name="Freeform 11" descr="preencoded.png"/>
          <p:cNvSpPr/>
          <p:nvPr/>
        </p:nvSpPr>
        <p:spPr>
          <a:xfrm>
            <a:off x="6290816" y="3016895"/>
            <a:ext cx="5706219" cy="5706219"/>
          </a:xfrm>
          <a:custGeom>
            <a:avLst/>
            <a:gdLst/>
            <a:ahLst/>
            <a:cxnLst/>
            <a:rect l="l" t="t" r="r" b="b"/>
            <a:pathLst>
              <a:path w="5706219" h="5706219">
                <a:moveTo>
                  <a:pt x="0" y="0"/>
                </a:moveTo>
                <a:lnTo>
                  <a:pt x="5706219" y="0"/>
                </a:lnTo>
                <a:lnTo>
                  <a:pt x="5706219" y="5706219"/>
                </a:lnTo>
                <a:lnTo>
                  <a:pt x="0" y="5706219"/>
                </a:lnTo>
                <a:lnTo>
                  <a:pt x="0" y="0"/>
                </a:lnTo>
                <a:close/>
              </a:path>
            </a:pathLst>
          </a:custGeom>
          <a:blipFill>
            <a:blip r:embed="rId2"/>
            <a:stretch>
              <a:fillRect/>
            </a:stretch>
          </a:blipFill>
        </p:spPr>
      </p:sp>
      <p:grpSp>
        <p:nvGrpSpPr>
          <p:cNvPr id="12" name="Group 12"/>
          <p:cNvGrpSpPr/>
          <p:nvPr/>
        </p:nvGrpSpPr>
        <p:grpSpPr>
          <a:xfrm>
            <a:off x="6934646" y="5604719"/>
            <a:ext cx="424160" cy="647073"/>
            <a:chOff x="0" y="0"/>
            <a:chExt cx="565547" cy="862764"/>
          </a:xfrm>
        </p:grpSpPr>
        <p:sp>
          <p:nvSpPr>
            <p:cNvPr id="13" name="Freeform 13"/>
            <p:cNvSpPr/>
            <p:nvPr/>
          </p:nvSpPr>
          <p:spPr>
            <a:xfrm>
              <a:off x="0" y="0"/>
              <a:ext cx="565547" cy="862764"/>
            </a:xfrm>
            <a:custGeom>
              <a:avLst/>
              <a:gdLst/>
              <a:ahLst/>
              <a:cxnLst/>
              <a:rect l="l" t="t" r="r" b="b"/>
              <a:pathLst>
                <a:path w="565547" h="862764">
                  <a:moveTo>
                    <a:pt x="0" y="0"/>
                  </a:moveTo>
                  <a:lnTo>
                    <a:pt x="565547" y="0"/>
                  </a:lnTo>
                  <a:lnTo>
                    <a:pt x="565547" y="862764"/>
                  </a:lnTo>
                  <a:lnTo>
                    <a:pt x="0" y="862764"/>
                  </a:lnTo>
                  <a:close/>
                </a:path>
              </a:pathLst>
            </a:custGeom>
            <a:solidFill>
              <a:srgbClr val="000000">
                <a:alpha val="0"/>
              </a:srgbClr>
            </a:solidFill>
          </p:spPr>
        </p:sp>
        <p:sp>
          <p:nvSpPr>
            <p:cNvPr id="14" name="TextBox 14"/>
            <p:cNvSpPr txBox="1"/>
            <p:nvPr/>
          </p:nvSpPr>
          <p:spPr>
            <a:xfrm>
              <a:off x="0" y="-142875"/>
              <a:ext cx="565547" cy="1005639"/>
            </a:xfrm>
            <a:prstGeom prst="rect">
              <a:avLst/>
            </a:prstGeom>
          </p:spPr>
          <p:txBody>
            <a:bodyPr lIns="0" tIns="0" rIns="0" bIns="0" rtlCol="0" anchor="t"/>
            <a:lstStyle/>
            <a:p>
              <a:pPr algn="l">
                <a:lnSpc>
                  <a:spcPts val="5312"/>
                </a:lnSpc>
              </a:pPr>
              <a:r>
                <a:rPr lang="en-US" sz="3312" b="1">
                  <a:solidFill>
                    <a:srgbClr val="749073"/>
                  </a:solidFill>
                  <a:latin typeface="Gotham Bold"/>
                  <a:ea typeface="Gotham Bold"/>
                  <a:cs typeface="Gotham Bold"/>
                  <a:sym typeface="Gotham Bold"/>
                </a:rPr>
                <a:t>1</a:t>
              </a:r>
            </a:p>
          </p:txBody>
        </p:sp>
      </p:grpSp>
      <p:grpSp>
        <p:nvGrpSpPr>
          <p:cNvPr id="15" name="Group 15"/>
          <p:cNvGrpSpPr/>
          <p:nvPr/>
        </p:nvGrpSpPr>
        <p:grpSpPr>
          <a:xfrm>
            <a:off x="12422237" y="2651608"/>
            <a:ext cx="4334173" cy="964470"/>
            <a:chOff x="0" y="0"/>
            <a:chExt cx="5778897" cy="1285960"/>
          </a:xfrm>
        </p:grpSpPr>
        <p:sp>
          <p:nvSpPr>
            <p:cNvPr id="16" name="Freeform 16"/>
            <p:cNvSpPr/>
            <p:nvPr/>
          </p:nvSpPr>
          <p:spPr>
            <a:xfrm>
              <a:off x="0" y="0"/>
              <a:ext cx="5778897" cy="1285960"/>
            </a:xfrm>
            <a:custGeom>
              <a:avLst/>
              <a:gdLst/>
              <a:ahLst/>
              <a:cxnLst/>
              <a:rect l="l" t="t" r="r" b="b"/>
              <a:pathLst>
                <a:path w="5778897" h="1285960">
                  <a:moveTo>
                    <a:pt x="0" y="0"/>
                  </a:moveTo>
                  <a:lnTo>
                    <a:pt x="5778897" y="0"/>
                  </a:lnTo>
                  <a:lnTo>
                    <a:pt x="5778897" y="1285960"/>
                  </a:lnTo>
                  <a:lnTo>
                    <a:pt x="0" y="1285960"/>
                  </a:lnTo>
                  <a:close/>
                </a:path>
              </a:pathLst>
            </a:custGeom>
            <a:solidFill>
              <a:srgbClr val="000000">
                <a:alpha val="0"/>
              </a:srgbClr>
            </a:solidFill>
          </p:spPr>
        </p:sp>
        <p:sp>
          <p:nvSpPr>
            <p:cNvPr id="17" name="TextBox 17"/>
            <p:cNvSpPr txBox="1"/>
            <p:nvPr/>
          </p:nvSpPr>
          <p:spPr>
            <a:xfrm>
              <a:off x="0" y="-19050"/>
              <a:ext cx="5778897" cy="1305010"/>
            </a:xfrm>
            <a:prstGeom prst="rect">
              <a:avLst/>
            </a:prstGeom>
          </p:spPr>
          <p:txBody>
            <a:bodyPr lIns="0" tIns="0" rIns="0" bIns="0" rtlCol="0" anchor="t"/>
            <a:lstStyle/>
            <a:p>
              <a:pPr algn="l">
                <a:lnSpc>
                  <a:spcPts val="3437"/>
                </a:lnSpc>
              </a:pPr>
              <a:r>
                <a:rPr lang="en-US" sz="2750" b="1">
                  <a:solidFill>
                    <a:srgbClr val="749073"/>
                  </a:solidFill>
                  <a:latin typeface="Gotham Bold"/>
                  <a:ea typeface="Gotham Bold"/>
                  <a:cs typeface="Gotham Bold"/>
                  <a:sym typeface="Gotham Bold"/>
                </a:rPr>
                <a:t>Failure Patterns Detected</a:t>
              </a:r>
            </a:p>
          </p:txBody>
        </p:sp>
      </p:grpSp>
      <p:grpSp>
        <p:nvGrpSpPr>
          <p:cNvPr id="18" name="Group 18"/>
          <p:cNvGrpSpPr/>
          <p:nvPr/>
        </p:nvGrpSpPr>
        <p:grpSpPr>
          <a:xfrm>
            <a:off x="12422237" y="3616077"/>
            <a:ext cx="4873526" cy="1814512"/>
            <a:chOff x="0" y="0"/>
            <a:chExt cx="6498035" cy="2419350"/>
          </a:xfrm>
        </p:grpSpPr>
        <p:sp>
          <p:nvSpPr>
            <p:cNvPr id="19" name="Freeform 19"/>
            <p:cNvSpPr/>
            <p:nvPr/>
          </p:nvSpPr>
          <p:spPr>
            <a:xfrm>
              <a:off x="0" y="0"/>
              <a:ext cx="6498035" cy="2419350"/>
            </a:xfrm>
            <a:custGeom>
              <a:avLst/>
              <a:gdLst/>
              <a:ahLst/>
              <a:cxnLst/>
              <a:rect l="l" t="t" r="r" b="b"/>
              <a:pathLst>
                <a:path w="6498035" h="2419350">
                  <a:moveTo>
                    <a:pt x="0" y="0"/>
                  </a:moveTo>
                  <a:lnTo>
                    <a:pt x="6498035" y="0"/>
                  </a:lnTo>
                  <a:lnTo>
                    <a:pt x="6498035" y="2419350"/>
                  </a:lnTo>
                  <a:lnTo>
                    <a:pt x="0" y="2419350"/>
                  </a:lnTo>
                  <a:close/>
                </a:path>
              </a:pathLst>
            </a:custGeom>
            <a:solidFill>
              <a:srgbClr val="000000">
                <a:alpha val="0"/>
              </a:srgbClr>
            </a:solidFill>
          </p:spPr>
        </p:sp>
        <p:sp>
          <p:nvSpPr>
            <p:cNvPr id="20" name="TextBox 20"/>
            <p:cNvSpPr txBox="1"/>
            <p:nvPr/>
          </p:nvSpPr>
          <p:spPr>
            <a:xfrm>
              <a:off x="0" y="-95250"/>
              <a:ext cx="6498035" cy="2514600"/>
            </a:xfrm>
            <a:prstGeom prst="rect">
              <a:avLst/>
            </a:prstGeom>
          </p:spPr>
          <p:txBody>
            <a:bodyPr lIns="0" tIns="0" rIns="0" bIns="0" rtlCol="0" anchor="t"/>
            <a:lstStyle/>
            <a:p>
              <a:pPr algn="l">
                <a:lnSpc>
                  <a:spcPts val="3562"/>
                </a:lnSpc>
              </a:pPr>
              <a:r>
                <a:rPr lang="en-US" sz="2187" spc="-32">
                  <a:solidFill>
                    <a:srgbClr val="749073"/>
                  </a:solidFill>
                  <a:latin typeface="Gotham"/>
                  <a:ea typeface="Gotham"/>
                  <a:cs typeface="Gotham"/>
                  <a:sym typeface="Gotham"/>
                </a:rPr>
                <a:t>Models are trained to identify CPU Exhaustion, Memory Exhaustion, Disk Pressure, Network Issues, and Node Not Ready conditions.</a:t>
              </a:r>
            </a:p>
          </p:txBody>
        </p:sp>
      </p:grpSp>
      <p:sp>
        <p:nvSpPr>
          <p:cNvPr id="21" name="Freeform 21" descr="preencoded.png"/>
          <p:cNvSpPr/>
          <p:nvPr/>
        </p:nvSpPr>
        <p:spPr>
          <a:xfrm>
            <a:off x="6290816" y="3016895"/>
            <a:ext cx="5706219" cy="5706219"/>
          </a:xfrm>
          <a:custGeom>
            <a:avLst/>
            <a:gdLst/>
            <a:ahLst/>
            <a:cxnLst/>
            <a:rect l="l" t="t" r="r" b="b"/>
            <a:pathLst>
              <a:path w="5706219" h="5706219">
                <a:moveTo>
                  <a:pt x="0" y="0"/>
                </a:moveTo>
                <a:lnTo>
                  <a:pt x="5706219" y="0"/>
                </a:lnTo>
                <a:lnTo>
                  <a:pt x="5706219" y="5706219"/>
                </a:lnTo>
                <a:lnTo>
                  <a:pt x="0" y="5706219"/>
                </a:lnTo>
                <a:lnTo>
                  <a:pt x="0" y="0"/>
                </a:lnTo>
                <a:close/>
              </a:path>
            </a:pathLst>
          </a:custGeom>
          <a:blipFill>
            <a:blip r:embed="rId3"/>
            <a:stretch>
              <a:fillRect/>
            </a:stretch>
          </a:blipFill>
        </p:spPr>
      </p:sp>
      <p:grpSp>
        <p:nvGrpSpPr>
          <p:cNvPr id="22" name="Group 22"/>
          <p:cNvGrpSpPr/>
          <p:nvPr/>
        </p:nvGrpSpPr>
        <p:grpSpPr>
          <a:xfrm>
            <a:off x="9930407" y="3875186"/>
            <a:ext cx="424160" cy="647073"/>
            <a:chOff x="0" y="0"/>
            <a:chExt cx="565547" cy="862764"/>
          </a:xfrm>
        </p:grpSpPr>
        <p:sp>
          <p:nvSpPr>
            <p:cNvPr id="23" name="Freeform 23"/>
            <p:cNvSpPr/>
            <p:nvPr/>
          </p:nvSpPr>
          <p:spPr>
            <a:xfrm>
              <a:off x="0" y="0"/>
              <a:ext cx="565547" cy="862764"/>
            </a:xfrm>
            <a:custGeom>
              <a:avLst/>
              <a:gdLst/>
              <a:ahLst/>
              <a:cxnLst/>
              <a:rect l="l" t="t" r="r" b="b"/>
              <a:pathLst>
                <a:path w="565547" h="862764">
                  <a:moveTo>
                    <a:pt x="0" y="0"/>
                  </a:moveTo>
                  <a:lnTo>
                    <a:pt x="565547" y="0"/>
                  </a:lnTo>
                  <a:lnTo>
                    <a:pt x="565547" y="862764"/>
                  </a:lnTo>
                  <a:lnTo>
                    <a:pt x="0" y="862764"/>
                  </a:lnTo>
                  <a:close/>
                </a:path>
              </a:pathLst>
            </a:custGeom>
            <a:solidFill>
              <a:srgbClr val="000000">
                <a:alpha val="0"/>
              </a:srgbClr>
            </a:solidFill>
          </p:spPr>
        </p:sp>
        <p:sp>
          <p:nvSpPr>
            <p:cNvPr id="24" name="TextBox 24"/>
            <p:cNvSpPr txBox="1"/>
            <p:nvPr/>
          </p:nvSpPr>
          <p:spPr>
            <a:xfrm>
              <a:off x="0" y="-142875"/>
              <a:ext cx="565547" cy="1005639"/>
            </a:xfrm>
            <a:prstGeom prst="rect">
              <a:avLst/>
            </a:prstGeom>
          </p:spPr>
          <p:txBody>
            <a:bodyPr lIns="0" tIns="0" rIns="0" bIns="0" rtlCol="0" anchor="t"/>
            <a:lstStyle/>
            <a:p>
              <a:pPr algn="l">
                <a:lnSpc>
                  <a:spcPts val="5312"/>
                </a:lnSpc>
              </a:pPr>
              <a:r>
                <a:rPr lang="en-US" sz="3312" b="1">
                  <a:solidFill>
                    <a:srgbClr val="749073"/>
                  </a:solidFill>
                  <a:latin typeface="Gotham Bold"/>
                  <a:ea typeface="Gotham Bold"/>
                  <a:cs typeface="Gotham Bold"/>
                  <a:sym typeface="Gotham Bold"/>
                </a:rPr>
                <a:t>2</a:t>
              </a:r>
            </a:p>
          </p:txBody>
        </p:sp>
      </p:grpSp>
      <p:grpSp>
        <p:nvGrpSpPr>
          <p:cNvPr id="25" name="Group 25"/>
          <p:cNvGrpSpPr/>
          <p:nvPr/>
        </p:nvGrpSpPr>
        <p:grpSpPr>
          <a:xfrm>
            <a:off x="12422237" y="5694282"/>
            <a:ext cx="3544044" cy="964470"/>
            <a:chOff x="0" y="0"/>
            <a:chExt cx="4725392" cy="1285960"/>
          </a:xfrm>
        </p:grpSpPr>
        <p:sp>
          <p:nvSpPr>
            <p:cNvPr id="26" name="Freeform 26"/>
            <p:cNvSpPr/>
            <p:nvPr/>
          </p:nvSpPr>
          <p:spPr>
            <a:xfrm>
              <a:off x="0" y="0"/>
              <a:ext cx="4725392" cy="1285960"/>
            </a:xfrm>
            <a:custGeom>
              <a:avLst/>
              <a:gdLst/>
              <a:ahLst/>
              <a:cxnLst/>
              <a:rect l="l" t="t" r="r" b="b"/>
              <a:pathLst>
                <a:path w="4725392" h="1285960">
                  <a:moveTo>
                    <a:pt x="0" y="0"/>
                  </a:moveTo>
                  <a:lnTo>
                    <a:pt x="4725392" y="0"/>
                  </a:lnTo>
                  <a:lnTo>
                    <a:pt x="4725392" y="1285960"/>
                  </a:lnTo>
                  <a:lnTo>
                    <a:pt x="0" y="1285960"/>
                  </a:lnTo>
                  <a:close/>
                </a:path>
              </a:pathLst>
            </a:custGeom>
            <a:solidFill>
              <a:srgbClr val="000000">
                <a:alpha val="0"/>
              </a:srgbClr>
            </a:solidFill>
          </p:spPr>
        </p:sp>
        <p:sp>
          <p:nvSpPr>
            <p:cNvPr id="27" name="TextBox 27"/>
            <p:cNvSpPr txBox="1"/>
            <p:nvPr/>
          </p:nvSpPr>
          <p:spPr>
            <a:xfrm>
              <a:off x="0" y="-19050"/>
              <a:ext cx="4725392" cy="1305010"/>
            </a:xfrm>
            <a:prstGeom prst="rect">
              <a:avLst/>
            </a:prstGeom>
          </p:spPr>
          <p:txBody>
            <a:bodyPr lIns="0" tIns="0" rIns="0" bIns="0" rtlCol="0" anchor="t"/>
            <a:lstStyle/>
            <a:p>
              <a:pPr algn="l">
                <a:lnSpc>
                  <a:spcPts val="3437"/>
                </a:lnSpc>
              </a:pPr>
              <a:r>
                <a:rPr lang="en-US" sz="2750" b="1">
                  <a:solidFill>
                    <a:srgbClr val="749073"/>
                  </a:solidFill>
                  <a:latin typeface="Gotham Bold"/>
                  <a:ea typeface="Gotham Bold"/>
                  <a:cs typeface="Gotham Bold"/>
                  <a:sym typeface="Gotham Bold"/>
                </a:rPr>
                <a:t>Feature Engineering</a:t>
              </a:r>
            </a:p>
          </p:txBody>
        </p:sp>
      </p:grpSp>
      <p:grpSp>
        <p:nvGrpSpPr>
          <p:cNvPr id="28" name="Group 28"/>
          <p:cNvGrpSpPr/>
          <p:nvPr/>
        </p:nvGrpSpPr>
        <p:grpSpPr>
          <a:xfrm>
            <a:off x="12422237" y="6468815"/>
            <a:ext cx="4873526" cy="2268141"/>
            <a:chOff x="0" y="0"/>
            <a:chExt cx="6498035" cy="3024188"/>
          </a:xfrm>
        </p:grpSpPr>
        <p:sp>
          <p:nvSpPr>
            <p:cNvPr id="29" name="Freeform 29"/>
            <p:cNvSpPr/>
            <p:nvPr/>
          </p:nvSpPr>
          <p:spPr>
            <a:xfrm>
              <a:off x="0" y="0"/>
              <a:ext cx="6498035" cy="3024188"/>
            </a:xfrm>
            <a:custGeom>
              <a:avLst/>
              <a:gdLst/>
              <a:ahLst/>
              <a:cxnLst/>
              <a:rect l="l" t="t" r="r" b="b"/>
              <a:pathLst>
                <a:path w="6498035" h="3024188">
                  <a:moveTo>
                    <a:pt x="0" y="0"/>
                  </a:moveTo>
                  <a:lnTo>
                    <a:pt x="6498035" y="0"/>
                  </a:lnTo>
                  <a:lnTo>
                    <a:pt x="6498035" y="3024188"/>
                  </a:lnTo>
                  <a:lnTo>
                    <a:pt x="0" y="3024188"/>
                  </a:lnTo>
                  <a:close/>
                </a:path>
              </a:pathLst>
            </a:custGeom>
            <a:solidFill>
              <a:srgbClr val="000000">
                <a:alpha val="0"/>
              </a:srgbClr>
            </a:solidFill>
          </p:spPr>
        </p:sp>
        <p:sp>
          <p:nvSpPr>
            <p:cNvPr id="30" name="TextBox 30"/>
            <p:cNvSpPr txBox="1"/>
            <p:nvPr/>
          </p:nvSpPr>
          <p:spPr>
            <a:xfrm>
              <a:off x="0" y="-95250"/>
              <a:ext cx="6498035" cy="3119438"/>
            </a:xfrm>
            <a:prstGeom prst="rect">
              <a:avLst/>
            </a:prstGeom>
          </p:spPr>
          <p:txBody>
            <a:bodyPr lIns="0" tIns="0" rIns="0" bIns="0" rtlCol="0" anchor="t"/>
            <a:lstStyle/>
            <a:p>
              <a:pPr algn="l">
                <a:lnSpc>
                  <a:spcPts val="3562"/>
                </a:lnSpc>
              </a:pPr>
              <a:r>
                <a:rPr lang="en-US" sz="2187" spc="-32">
                  <a:solidFill>
                    <a:srgbClr val="749073"/>
                  </a:solidFill>
                  <a:latin typeface="Gotham"/>
                  <a:ea typeface="Gotham"/>
                  <a:cs typeface="Gotham"/>
                  <a:sym typeface="Gotham"/>
                </a:rPr>
                <a:t>Includes rolling averages over different time windows, rate of change calculations, statistical features, and anomaly scores to enhance detection capabilities.</a:t>
              </a:r>
            </a:p>
          </p:txBody>
        </p:sp>
      </p:grpSp>
      <p:sp>
        <p:nvSpPr>
          <p:cNvPr id="31" name="Freeform 31" descr="preencoded.png"/>
          <p:cNvSpPr/>
          <p:nvPr/>
        </p:nvSpPr>
        <p:spPr>
          <a:xfrm>
            <a:off x="6290816" y="3016895"/>
            <a:ext cx="5706219" cy="5706219"/>
          </a:xfrm>
          <a:custGeom>
            <a:avLst/>
            <a:gdLst/>
            <a:ahLst/>
            <a:cxnLst/>
            <a:rect l="l" t="t" r="r" b="b"/>
            <a:pathLst>
              <a:path w="5706219" h="5706219">
                <a:moveTo>
                  <a:pt x="0" y="0"/>
                </a:moveTo>
                <a:lnTo>
                  <a:pt x="5706219" y="0"/>
                </a:lnTo>
                <a:lnTo>
                  <a:pt x="5706219" y="5706219"/>
                </a:lnTo>
                <a:lnTo>
                  <a:pt x="0" y="5706219"/>
                </a:lnTo>
                <a:lnTo>
                  <a:pt x="0" y="0"/>
                </a:lnTo>
                <a:close/>
              </a:path>
            </a:pathLst>
          </a:custGeom>
          <a:blipFill>
            <a:blip r:embed="rId4"/>
            <a:stretch>
              <a:fillRect/>
            </a:stretch>
          </a:blipFill>
        </p:spPr>
      </p:sp>
      <p:grpSp>
        <p:nvGrpSpPr>
          <p:cNvPr id="32" name="Group 32"/>
          <p:cNvGrpSpPr/>
          <p:nvPr/>
        </p:nvGrpSpPr>
        <p:grpSpPr>
          <a:xfrm>
            <a:off x="9930407" y="7334250"/>
            <a:ext cx="424160" cy="647073"/>
            <a:chOff x="0" y="0"/>
            <a:chExt cx="565547" cy="862764"/>
          </a:xfrm>
        </p:grpSpPr>
        <p:sp>
          <p:nvSpPr>
            <p:cNvPr id="33" name="Freeform 33"/>
            <p:cNvSpPr/>
            <p:nvPr/>
          </p:nvSpPr>
          <p:spPr>
            <a:xfrm>
              <a:off x="0" y="0"/>
              <a:ext cx="565547" cy="862764"/>
            </a:xfrm>
            <a:custGeom>
              <a:avLst/>
              <a:gdLst/>
              <a:ahLst/>
              <a:cxnLst/>
              <a:rect l="l" t="t" r="r" b="b"/>
              <a:pathLst>
                <a:path w="565547" h="862764">
                  <a:moveTo>
                    <a:pt x="0" y="0"/>
                  </a:moveTo>
                  <a:lnTo>
                    <a:pt x="565547" y="0"/>
                  </a:lnTo>
                  <a:lnTo>
                    <a:pt x="565547" y="862764"/>
                  </a:lnTo>
                  <a:lnTo>
                    <a:pt x="0" y="862764"/>
                  </a:lnTo>
                  <a:close/>
                </a:path>
              </a:pathLst>
            </a:custGeom>
            <a:solidFill>
              <a:srgbClr val="000000">
                <a:alpha val="0"/>
              </a:srgbClr>
            </a:solidFill>
          </p:spPr>
        </p:sp>
        <p:sp>
          <p:nvSpPr>
            <p:cNvPr id="34" name="TextBox 34"/>
            <p:cNvSpPr txBox="1"/>
            <p:nvPr/>
          </p:nvSpPr>
          <p:spPr>
            <a:xfrm>
              <a:off x="0" y="-142875"/>
              <a:ext cx="565547" cy="1005639"/>
            </a:xfrm>
            <a:prstGeom prst="rect">
              <a:avLst/>
            </a:prstGeom>
          </p:spPr>
          <p:txBody>
            <a:bodyPr lIns="0" tIns="0" rIns="0" bIns="0" rtlCol="0" anchor="t"/>
            <a:lstStyle/>
            <a:p>
              <a:pPr algn="l">
                <a:lnSpc>
                  <a:spcPts val="5312"/>
                </a:lnSpc>
              </a:pPr>
              <a:r>
                <a:rPr lang="en-US" sz="3312" b="1">
                  <a:solidFill>
                    <a:srgbClr val="749073"/>
                  </a:solidFill>
                  <a:latin typeface="Gotham Bold"/>
                  <a:ea typeface="Gotham Bold"/>
                  <a:cs typeface="Gotham Bold"/>
                  <a:sym typeface="Gotham Bold"/>
                </a:rPr>
                <a:t>3</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4CDBD"/>
        </a:solidFill>
        <a:effectLst/>
      </p:bgPr>
    </p:bg>
    <p:spTree>
      <p:nvGrpSpPr>
        <p:cNvPr id="1" name=""/>
        <p:cNvGrpSpPr/>
        <p:nvPr/>
      </p:nvGrpSpPr>
      <p:grpSpPr>
        <a:xfrm>
          <a:off x="0" y="0"/>
          <a:ext cx="0" cy="0"/>
          <a:chOff x="0" y="0"/>
          <a:chExt cx="0" cy="0"/>
        </a:xfrm>
      </p:grpSpPr>
      <p:grpSp>
        <p:nvGrpSpPr>
          <p:cNvPr id="2" name="Group 2"/>
          <p:cNvGrpSpPr/>
          <p:nvPr/>
        </p:nvGrpSpPr>
        <p:grpSpPr>
          <a:xfrm>
            <a:off x="992238" y="1578322"/>
            <a:ext cx="8844111" cy="989195"/>
            <a:chOff x="0" y="0"/>
            <a:chExt cx="11792148" cy="1318927"/>
          </a:xfrm>
        </p:grpSpPr>
        <p:sp>
          <p:nvSpPr>
            <p:cNvPr id="3" name="Freeform 3"/>
            <p:cNvSpPr/>
            <p:nvPr/>
          </p:nvSpPr>
          <p:spPr>
            <a:xfrm>
              <a:off x="0" y="0"/>
              <a:ext cx="11792148" cy="1318927"/>
            </a:xfrm>
            <a:custGeom>
              <a:avLst/>
              <a:gdLst/>
              <a:ahLst/>
              <a:cxnLst/>
              <a:rect l="l" t="t" r="r" b="b"/>
              <a:pathLst>
                <a:path w="11792148" h="1318927">
                  <a:moveTo>
                    <a:pt x="0" y="0"/>
                  </a:moveTo>
                  <a:lnTo>
                    <a:pt x="11792148" y="0"/>
                  </a:lnTo>
                  <a:lnTo>
                    <a:pt x="11792148" y="1318927"/>
                  </a:lnTo>
                  <a:lnTo>
                    <a:pt x="0" y="1318927"/>
                  </a:lnTo>
                  <a:close/>
                </a:path>
              </a:pathLst>
            </a:custGeom>
            <a:solidFill>
              <a:srgbClr val="000000">
                <a:alpha val="0"/>
              </a:srgbClr>
            </a:solidFill>
          </p:spPr>
        </p:sp>
        <p:sp>
          <p:nvSpPr>
            <p:cNvPr id="4" name="TextBox 4"/>
            <p:cNvSpPr txBox="1"/>
            <p:nvPr/>
          </p:nvSpPr>
          <p:spPr>
            <a:xfrm>
              <a:off x="0" y="-142875"/>
              <a:ext cx="11792148" cy="1461802"/>
            </a:xfrm>
            <a:prstGeom prst="rect">
              <a:avLst/>
            </a:prstGeom>
          </p:spPr>
          <p:txBody>
            <a:bodyPr lIns="0" tIns="0" rIns="0" bIns="0" rtlCol="0" anchor="t"/>
            <a:lstStyle/>
            <a:p>
              <a:pPr algn="l">
                <a:lnSpc>
                  <a:spcPts val="6937"/>
                </a:lnSpc>
              </a:pPr>
              <a:r>
                <a:rPr lang="en-US" sz="5562" i="1" spc="-105">
                  <a:solidFill>
                    <a:srgbClr val="0E4714"/>
                  </a:solidFill>
                  <a:latin typeface="Times New Roman Condensed Italics"/>
                  <a:ea typeface="Times New Roman Condensed Italics"/>
                  <a:cs typeface="Times New Roman Condensed Italics"/>
                  <a:sym typeface="Times New Roman Condensed Italics"/>
                </a:rPr>
                <a:t>Extending the Application</a:t>
              </a:r>
            </a:p>
          </p:txBody>
        </p:sp>
      </p:grpSp>
      <p:grpSp>
        <p:nvGrpSpPr>
          <p:cNvPr id="5" name="Group 5"/>
          <p:cNvGrpSpPr/>
          <p:nvPr/>
        </p:nvGrpSpPr>
        <p:grpSpPr>
          <a:xfrm>
            <a:off x="992238" y="2889498"/>
            <a:ext cx="4581079" cy="3448199"/>
            <a:chOff x="0" y="0"/>
            <a:chExt cx="6108105" cy="4597598"/>
          </a:xfrm>
        </p:grpSpPr>
        <p:sp>
          <p:nvSpPr>
            <p:cNvPr id="6" name="Freeform 6"/>
            <p:cNvSpPr/>
            <p:nvPr/>
          </p:nvSpPr>
          <p:spPr>
            <a:xfrm>
              <a:off x="0" y="0"/>
              <a:ext cx="6108065" cy="4597527"/>
            </a:xfrm>
            <a:custGeom>
              <a:avLst/>
              <a:gdLst/>
              <a:ahLst/>
              <a:cxnLst/>
              <a:rect l="l" t="t" r="r" b="b"/>
              <a:pathLst>
                <a:path w="6108065" h="4597527">
                  <a:moveTo>
                    <a:pt x="0" y="56642"/>
                  </a:moveTo>
                  <a:cubicBezTo>
                    <a:pt x="0" y="25400"/>
                    <a:pt x="25400" y="0"/>
                    <a:pt x="56642" y="0"/>
                  </a:cubicBezTo>
                  <a:lnTo>
                    <a:pt x="6051423" y="0"/>
                  </a:lnTo>
                  <a:cubicBezTo>
                    <a:pt x="6082792" y="0"/>
                    <a:pt x="6108065" y="25400"/>
                    <a:pt x="6108065" y="56642"/>
                  </a:cubicBezTo>
                  <a:lnTo>
                    <a:pt x="6108065" y="4540885"/>
                  </a:lnTo>
                  <a:cubicBezTo>
                    <a:pt x="6108065" y="4572254"/>
                    <a:pt x="6082665" y="4597527"/>
                    <a:pt x="6051423" y="4597527"/>
                  </a:cubicBezTo>
                  <a:lnTo>
                    <a:pt x="56642" y="4597527"/>
                  </a:lnTo>
                  <a:cubicBezTo>
                    <a:pt x="25273" y="4597527"/>
                    <a:pt x="0" y="4572127"/>
                    <a:pt x="0" y="4540885"/>
                  </a:cubicBezTo>
                  <a:close/>
                </a:path>
              </a:pathLst>
            </a:custGeom>
            <a:solidFill>
              <a:srgbClr val="0E4714"/>
            </a:solidFill>
          </p:spPr>
        </p:sp>
      </p:grpSp>
      <p:grpSp>
        <p:nvGrpSpPr>
          <p:cNvPr id="7" name="Group 7"/>
          <p:cNvGrpSpPr/>
          <p:nvPr/>
        </p:nvGrpSpPr>
        <p:grpSpPr>
          <a:xfrm>
            <a:off x="1275755" y="3173016"/>
            <a:ext cx="3544044" cy="535845"/>
            <a:chOff x="0" y="0"/>
            <a:chExt cx="4725392" cy="714460"/>
          </a:xfrm>
        </p:grpSpPr>
        <p:sp>
          <p:nvSpPr>
            <p:cNvPr id="8" name="Freeform 8"/>
            <p:cNvSpPr/>
            <p:nvPr/>
          </p:nvSpPr>
          <p:spPr>
            <a:xfrm>
              <a:off x="0" y="0"/>
              <a:ext cx="4725392" cy="714460"/>
            </a:xfrm>
            <a:custGeom>
              <a:avLst/>
              <a:gdLst/>
              <a:ahLst/>
              <a:cxnLst/>
              <a:rect l="l" t="t" r="r" b="b"/>
              <a:pathLst>
                <a:path w="4725392" h="714460">
                  <a:moveTo>
                    <a:pt x="0" y="0"/>
                  </a:moveTo>
                  <a:lnTo>
                    <a:pt x="4725392" y="0"/>
                  </a:lnTo>
                  <a:lnTo>
                    <a:pt x="4725392" y="714460"/>
                  </a:lnTo>
                  <a:lnTo>
                    <a:pt x="0" y="714460"/>
                  </a:lnTo>
                  <a:close/>
                </a:path>
              </a:pathLst>
            </a:custGeom>
            <a:solidFill>
              <a:srgbClr val="000000">
                <a:alpha val="0"/>
              </a:srgbClr>
            </a:solidFill>
          </p:spPr>
        </p:sp>
        <p:sp>
          <p:nvSpPr>
            <p:cNvPr id="9" name="TextBox 9"/>
            <p:cNvSpPr txBox="1"/>
            <p:nvPr/>
          </p:nvSpPr>
          <p:spPr>
            <a:xfrm>
              <a:off x="0" y="-19050"/>
              <a:ext cx="4725392" cy="733510"/>
            </a:xfrm>
            <a:prstGeom prst="rect">
              <a:avLst/>
            </a:prstGeom>
          </p:spPr>
          <p:txBody>
            <a:bodyPr lIns="0" tIns="0" rIns="0" bIns="0" rtlCol="0" anchor="t"/>
            <a:lstStyle/>
            <a:p>
              <a:pPr algn="l">
                <a:lnSpc>
                  <a:spcPts val="3437"/>
                </a:lnSpc>
              </a:pPr>
              <a:r>
                <a:rPr lang="en-US" sz="2750" b="1">
                  <a:solidFill>
                    <a:srgbClr val="E9EAE0"/>
                  </a:solidFill>
                  <a:latin typeface="Gotham Bold"/>
                  <a:ea typeface="Gotham Bold"/>
                  <a:cs typeface="Gotham Bold"/>
                  <a:sym typeface="Gotham Bold"/>
                </a:rPr>
                <a:t>Additional Models</a:t>
              </a:r>
            </a:p>
          </p:txBody>
        </p:sp>
      </p:grpSp>
      <p:grpSp>
        <p:nvGrpSpPr>
          <p:cNvPr id="10" name="Group 10"/>
          <p:cNvGrpSpPr/>
          <p:nvPr/>
        </p:nvGrpSpPr>
        <p:grpSpPr>
          <a:xfrm>
            <a:off x="1275755" y="3786039"/>
            <a:ext cx="4014044" cy="2268141"/>
            <a:chOff x="0" y="0"/>
            <a:chExt cx="5352058" cy="3024188"/>
          </a:xfrm>
        </p:grpSpPr>
        <p:sp>
          <p:nvSpPr>
            <p:cNvPr id="11" name="Freeform 11"/>
            <p:cNvSpPr/>
            <p:nvPr/>
          </p:nvSpPr>
          <p:spPr>
            <a:xfrm>
              <a:off x="0" y="0"/>
              <a:ext cx="5352058" cy="3024188"/>
            </a:xfrm>
            <a:custGeom>
              <a:avLst/>
              <a:gdLst/>
              <a:ahLst/>
              <a:cxnLst/>
              <a:rect l="l" t="t" r="r" b="b"/>
              <a:pathLst>
                <a:path w="5352058" h="3024188">
                  <a:moveTo>
                    <a:pt x="0" y="0"/>
                  </a:moveTo>
                  <a:lnTo>
                    <a:pt x="5352058" y="0"/>
                  </a:lnTo>
                  <a:lnTo>
                    <a:pt x="5352058" y="3024188"/>
                  </a:lnTo>
                  <a:lnTo>
                    <a:pt x="0" y="3024188"/>
                  </a:lnTo>
                  <a:close/>
                </a:path>
              </a:pathLst>
            </a:custGeom>
            <a:solidFill>
              <a:srgbClr val="000000">
                <a:alpha val="0"/>
              </a:srgbClr>
            </a:solidFill>
          </p:spPr>
        </p:sp>
        <p:sp>
          <p:nvSpPr>
            <p:cNvPr id="12" name="TextBox 12"/>
            <p:cNvSpPr txBox="1"/>
            <p:nvPr/>
          </p:nvSpPr>
          <p:spPr>
            <a:xfrm>
              <a:off x="0" y="-95250"/>
              <a:ext cx="5352058" cy="3119438"/>
            </a:xfrm>
            <a:prstGeom prst="rect">
              <a:avLst/>
            </a:prstGeom>
          </p:spPr>
          <p:txBody>
            <a:bodyPr lIns="0" tIns="0" rIns="0" bIns="0" rtlCol="0" anchor="t"/>
            <a:lstStyle/>
            <a:p>
              <a:pPr algn="l">
                <a:lnSpc>
                  <a:spcPts val="3562"/>
                </a:lnSpc>
              </a:pPr>
              <a:r>
                <a:rPr lang="en-US" sz="2187" spc="-32">
                  <a:solidFill>
                    <a:srgbClr val="E9EAE0"/>
                  </a:solidFill>
                  <a:latin typeface="Gotham"/>
                  <a:ea typeface="Gotham"/>
                  <a:cs typeface="Gotham"/>
                  <a:sym typeface="Gotham"/>
                </a:rPr>
                <a:t>Implement other ML algorithms like XGBoost, Neural Networks, etc., to enhance prediction accuracy and robustness.</a:t>
              </a:r>
            </a:p>
          </p:txBody>
        </p:sp>
      </p:grpSp>
      <p:grpSp>
        <p:nvGrpSpPr>
          <p:cNvPr id="13" name="Group 13"/>
          <p:cNvGrpSpPr/>
          <p:nvPr/>
        </p:nvGrpSpPr>
        <p:grpSpPr>
          <a:xfrm>
            <a:off x="5856834" y="2889498"/>
            <a:ext cx="4581079" cy="3448199"/>
            <a:chOff x="0" y="0"/>
            <a:chExt cx="6108105" cy="4597598"/>
          </a:xfrm>
        </p:grpSpPr>
        <p:sp>
          <p:nvSpPr>
            <p:cNvPr id="14" name="Freeform 14"/>
            <p:cNvSpPr/>
            <p:nvPr/>
          </p:nvSpPr>
          <p:spPr>
            <a:xfrm>
              <a:off x="0" y="0"/>
              <a:ext cx="6108065" cy="4597527"/>
            </a:xfrm>
            <a:custGeom>
              <a:avLst/>
              <a:gdLst/>
              <a:ahLst/>
              <a:cxnLst/>
              <a:rect l="l" t="t" r="r" b="b"/>
              <a:pathLst>
                <a:path w="6108065" h="4597527">
                  <a:moveTo>
                    <a:pt x="0" y="56642"/>
                  </a:moveTo>
                  <a:cubicBezTo>
                    <a:pt x="0" y="25400"/>
                    <a:pt x="25400" y="0"/>
                    <a:pt x="56642" y="0"/>
                  </a:cubicBezTo>
                  <a:lnTo>
                    <a:pt x="6051423" y="0"/>
                  </a:lnTo>
                  <a:cubicBezTo>
                    <a:pt x="6082792" y="0"/>
                    <a:pt x="6108065" y="25400"/>
                    <a:pt x="6108065" y="56642"/>
                  </a:cubicBezTo>
                  <a:lnTo>
                    <a:pt x="6108065" y="4540885"/>
                  </a:lnTo>
                  <a:cubicBezTo>
                    <a:pt x="6108065" y="4572254"/>
                    <a:pt x="6082665" y="4597527"/>
                    <a:pt x="6051423" y="4597527"/>
                  </a:cubicBezTo>
                  <a:lnTo>
                    <a:pt x="56642" y="4597527"/>
                  </a:lnTo>
                  <a:cubicBezTo>
                    <a:pt x="25273" y="4597527"/>
                    <a:pt x="0" y="4572127"/>
                    <a:pt x="0" y="4540885"/>
                  </a:cubicBezTo>
                  <a:close/>
                </a:path>
              </a:pathLst>
            </a:custGeom>
            <a:solidFill>
              <a:srgbClr val="0E4714"/>
            </a:solidFill>
          </p:spPr>
        </p:sp>
      </p:grpSp>
      <p:grpSp>
        <p:nvGrpSpPr>
          <p:cNvPr id="15" name="Group 15"/>
          <p:cNvGrpSpPr/>
          <p:nvPr/>
        </p:nvGrpSpPr>
        <p:grpSpPr>
          <a:xfrm>
            <a:off x="6140351" y="3173016"/>
            <a:ext cx="3605212" cy="964470"/>
            <a:chOff x="0" y="0"/>
            <a:chExt cx="4806950" cy="1285960"/>
          </a:xfrm>
        </p:grpSpPr>
        <p:sp>
          <p:nvSpPr>
            <p:cNvPr id="16" name="Freeform 16"/>
            <p:cNvSpPr/>
            <p:nvPr/>
          </p:nvSpPr>
          <p:spPr>
            <a:xfrm>
              <a:off x="0" y="0"/>
              <a:ext cx="4806950" cy="1285960"/>
            </a:xfrm>
            <a:custGeom>
              <a:avLst/>
              <a:gdLst/>
              <a:ahLst/>
              <a:cxnLst/>
              <a:rect l="l" t="t" r="r" b="b"/>
              <a:pathLst>
                <a:path w="4806950" h="1285960">
                  <a:moveTo>
                    <a:pt x="0" y="0"/>
                  </a:moveTo>
                  <a:lnTo>
                    <a:pt x="4806950" y="0"/>
                  </a:lnTo>
                  <a:lnTo>
                    <a:pt x="4806950" y="1285960"/>
                  </a:lnTo>
                  <a:lnTo>
                    <a:pt x="0" y="1285960"/>
                  </a:lnTo>
                  <a:close/>
                </a:path>
              </a:pathLst>
            </a:custGeom>
            <a:solidFill>
              <a:srgbClr val="000000">
                <a:alpha val="0"/>
              </a:srgbClr>
            </a:solidFill>
          </p:spPr>
        </p:sp>
        <p:sp>
          <p:nvSpPr>
            <p:cNvPr id="17" name="TextBox 17"/>
            <p:cNvSpPr txBox="1"/>
            <p:nvPr/>
          </p:nvSpPr>
          <p:spPr>
            <a:xfrm>
              <a:off x="0" y="-19050"/>
              <a:ext cx="4806950" cy="1305010"/>
            </a:xfrm>
            <a:prstGeom prst="rect">
              <a:avLst/>
            </a:prstGeom>
          </p:spPr>
          <p:txBody>
            <a:bodyPr lIns="0" tIns="0" rIns="0" bIns="0" rtlCol="0" anchor="t"/>
            <a:lstStyle/>
            <a:p>
              <a:pPr algn="l">
                <a:lnSpc>
                  <a:spcPts val="3437"/>
                </a:lnSpc>
              </a:pPr>
              <a:r>
                <a:rPr lang="en-US" sz="2750" b="1">
                  <a:solidFill>
                    <a:srgbClr val="E9EAE0"/>
                  </a:solidFill>
                  <a:latin typeface="Gotham Bold"/>
                  <a:ea typeface="Gotham Bold"/>
                  <a:cs typeface="Gotham Bold"/>
                  <a:sym typeface="Gotham Bold"/>
                </a:rPr>
                <a:t>Real-time Integration</a:t>
              </a:r>
            </a:p>
          </p:txBody>
        </p:sp>
      </p:grpSp>
      <p:grpSp>
        <p:nvGrpSpPr>
          <p:cNvPr id="18" name="Group 18"/>
          <p:cNvGrpSpPr/>
          <p:nvPr/>
        </p:nvGrpSpPr>
        <p:grpSpPr>
          <a:xfrm>
            <a:off x="6140351" y="4012853"/>
            <a:ext cx="4014044" cy="1814512"/>
            <a:chOff x="0" y="0"/>
            <a:chExt cx="5352058" cy="2419350"/>
          </a:xfrm>
        </p:grpSpPr>
        <p:sp>
          <p:nvSpPr>
            <p:cNvPr id="19" name="Freeform 19"/>
            <p:cNvSpPr/>
            <p:nvPr/>
          </p:nvSpPr>
          <p:spPr>
            <a:xfrm>
              <a:off x="0" y="0"/>
              <a:ext cx="5352058" cy="2419350"/>
            </a:xfrm>
            <a:custGeom>
              <a:avLst/>
              <a:gdLst/>
              <a:ahLst/>
              <a:cxnLst/>
              <a:rect l="l" t="t" r="r" b="b"/>
              <a:pathLst>
                <a:path w="5352058" h="2419350">
                  <a:moveTo>
                    <a:pt x="0" y="0"/>
                  </a:moveTo>
                  <a:lnTo>
                    <a:pt x="5352058" y="0"/>
                  </a:lnTo>
                  <a:lnTo>
                    <a:pt x="5352058" y="2419350"/>
                  </a:lnTo>
                  <a:lnTo>
                    <a:pt x="0" y="2419350"/>
                  </a:lnTo>
                  <a:close/>
                </a:path>
              </a:pathLst>
            </a:custGeom>
            <a:solidFill>
              <a:srgbClr val="000000">
                <a:alpha val="0"/>
              </a:srgbClr>
            </a:solidFill>
          </p:spPr>
        </p:sp>
        <p:sp>
          <p:nvSpPr>
            <p:cNvPr id="20" name="TextBox 20"/>
            <p:cNvSpPr txBox="1"/>
            <p:nvPr/>
          </p:nvSpPr>
          <p:spPr>
            <a:xfrm>
              <a:off x="0" y="-95250"/>
              <a:ext cx="5352058" cy="2514600"/>
            </a:xfrm>
            <a:prstGeom prst="rect">
              <a:avLst/>
            </a:prstGeom>
          </p:spPr>
          <p:txBody>
            <a:bodyPr lIns="0" tIns="0" rIns="0" bIns="0" rtlCol="0" anchor="t"/>
            <a:lstStyle/>
            <a:p>
              <a:pPr algn="l">
                <a:lnSpc>
                  <a:spcPts val="3562"/>
                </a:lnSpc>
              </a:pPr>
              <a:r>
                <a:rPr lang="en-US" sz="2187" spc="-32">
                  <a:solidFill>
                    <a:srgbClr val="E9EAE0"/>
                  </a:solidFill>
                  <a:latin typeface="Gotham"/>
                  <a:ea typeface="Gotham"/>
                  <a:cs typeface="Gotham"/>
                  <a:sym typeface="Gotham"/>
                </a:rPr>
                <a:t>Connect with Kubernetes API for real-time metrics, ensuring up-to-date data for accurate predictions.</a:t>
              </a:r>
            </a:p>
          </p:txBody>
        </p:sp>
      </p:grpSp>
      <p:grpSp>
        <p:nvGrpSpPr>
          <p:cNvPr id="21" name="Group 21"/>
          <p:cNvGrpSpPr/>
          <p:nvPr/>
        </p:nvGrpSpPr>
        <p:grpSpPr>
          <a:xfrm>
            <a:off x="992238" y="6621215"/>
            <a:ext cx="9445526" cy="2087315"/>
            <a:chOff x="0" y="0"/>
            <a:chExt cx="12594035" cy="2783087"/>
          </a:xfrm>
        </p:grpSpPr>
        <p:sp>
          <p:nvSpPr>
            <p:cNvPr id="22" name="Freeform 22"/>
            <p:cNvSpPr/>
            <p:nvPr/>
          </p:nvSpPr>
          <p:spPr>
            <a:xfrm>
              <a:off x="0" y="0"/>
              <a:ext cx="12594082" cy="2783078"/>
            </a:xfrm>
            <a:custGeom>
              <a:avLst/>
              <a:gdLst/>
              <a:ahLst/>
              <a:cxnLst/>
              <a:rect l="l" t="t" r="r" b="b"/>
              <a:pathLst>
                <a:path w="12594082" h="2783078">
                  <a:moveTo>
                    <a:pt x="0" y="56769"/>
                  </a:moveTo>
                  <a:cubicBezTo>
                    <a:pt x="0" y="25400"/>
                    <a:pt x="25400" y="0"/>
                    <a:pt x="56769" y="0"/>
                  </a:cubicBezTo>
                  <a:lnTo>
                    <a:pt x="12537313" y="0"/>
                  </a:lnTo>
                  <a:cubicBezTo>
                    <a:pt x="12568682" y="0"/>
                    <a:pt x="12594082" y="25400"/>
                    <a:pt x="12594082" y="56769"/>
                  </a:cubicBezTo>
                  <a:lnTo>
                    <a:pt x="12594082" y="2726309"/>
                  </a:lnTo>
                  <a:cubicBezTo>
                    <a:pt x="12594082" y="2757678"/>
                    <a:pt x="12568682" y="2783078"/>
                    <a:pt x="12537313" y="2783078"/>
                  </a:cubicBezTo>
                  <a:lnTo>
                    <a:pt x="56769" y="2783078"/>
                  </a:lnTo>
                  <a:cubicBezTo>
                    <a:pt x="25400" y="2783078"/>
                    <a:pt x="0" y="2757678"/>
                    <a:pt x="0" y="2726309"/>
                  </a:cubicBezTo>
                  <a:close/>
                </a:path>
              </a:pathLst>
            </a:custGeom>
            <a:solidFill>
              <a:srgbClr val="0E4714"/>
            </a:solidFill>
          </p:spPr>
        </p:sp>
      </p:grpSp>
      <p:grpSp>
        <p:nvGrpSpPr>
          <p:cNvPr id="23" name="Group 23"/>
          <p:cNvGrpSpPr/>
          <p:nvPr/>
        </p:nvGrpSpPr>
        <p:grpSpPr>
          <a:xfrm>
            <a:off x="1275755" y="6904732"/>
            <a:ext cx="3544044" cy="535845"/>
            <a:chOff x="0" y="0"/>
            <a:chExt cx="4725392" cy="714460"/>
          </a:xfrm>
        </p:grpSpPr>
        <p:sp>
          <p:nvSpPr>
            <p:cNvPr id="24" name="Freeform 24"/>
            <p:cNvSpPr/>
            <p:nvPr/>
          </p:nvSpPr>
          <p:spPr>
            <a:xfrm>
              <a:off x="0" y="0"/>
              <a:ext cx="4725392" cy="714460"/>
            </a:xfrm>
            <a:custGeom>
              <a:avLst/>
              <a:gdLst/>
              <a:ahLst/>
              <a:cxnLst/>
              <a:rect l="l" t="t" r="r" b="b"/>
              <a:pathLst>
                <a:path w="4725392" h="714460">
                  <a:moveTo>
                    <a:pt x="0" y="0"/>
                  </a:moveTo>
                  <a:lnTo>
                    <a:pt x="4725392" y="0"/>
                  </a:lnTo>
                  <a:lnTo>
                    <a:pt x="4725392" y="714460"/>
                  </a:lnTo>
                  <a:lnTo>
                    <a:pt x="0" y="714460"/>
                  </a:lnTo>
                  <a:close/>
                </a:path>
              </a:pathLst>
            </a:custGeom>
            <a:solidFill>
              <a:srgbClr val="000000">
                <a:alpha val="0"/>
              </a:srgbClr>
            </a:solidFill>
          </p:spPr>
        </p:sp>
        <p:sp>
          <p:nvSpPr>
            <p:cNvPr id="25" name="TextBox 25"/>
            <p:cNvSpPr txBox="1"/>
            <p:nvPr/>
          </p:nvSpPr>
          <p:spPr>
            <a:xfrm>
              <a:off x="0" y="-19050"/>
              <a:ext cx="4725392" cy="733510"/>
            </a:xfrm>
            <a:prstGeom prst="rect">
              <a:avLst/>
            </a:prstGeom>
          </p:spPr>
          <p:txBody>
            <a:bodyPr lIns="0" tIns="0" rIns="0" bIns="0" rtlCol="0" anchor="t"/>
            <a:lstStyle/>
            <a:p>
              <a:pPr algn="l">
                <a:lnSpc>
                  <a:spcPts val="3437"/>
                </a:lnSpc>
              </a:pPr>
              <a:r>
                <a:rPr lang="en-US" sz="2750" b="1">
                  <a:solidFill>
                    <a:srgbClr val="E9EAE0"/>
                  </a:solidFill>
                  <a:latin typeface="Gotham Bold"/>
                  <a:ea typeface="Gotham Bold"/>
                  <a:cs typeface="Gotham Bold"/>
                  <a:sym typeface="Gotham Bold"/>
                </a:rPr>
                <a:t>Alert System</a:t>
              </a:r>
            </a:p>
          </p:txBody>
        </p:sp>
      </p:grpSp>
      <p:grpSp>
        <p:nvGrpSpPr>
          <p:cNvPr id="26" name="Group 26"/>
          <p:cNvGrpSpPr/>
          <p:nvPr/>
        </p:nvGrpSpPr>
        <p:grpSpPr>
          <a:xfrm>
            <a:off x="1275755" y="7517755"/>
            <a:ext cx="8878491" cy="907256"/>
            <a:chOff x="0" y="0"/>
            <a:chExt cx="11837988" cy="1209675"/>
          </a:xfrm>
        </p:grpSpPr>
        <p:sp>
          <p:nvSpPr>
            <p:cNvPr id="27" name="Freeform 27"/>
            <p:cNvSpPr/>
            <p:nvPr/>
          </p:nvSpPr>
          <p:spPr>
            <a:xfrm>
              <a:off x="0" y="0"/>
              <a:ext cx="11837988" cy="1209675"/>
            </a:xfrm>
            <a:custGeom>
              <a:avLst/>
              <a:gdLst/>
              <a:ahLst/>
              <a:cxnLst/>
              <a:rect l="l" t="t" r="r" b="b"/>
              <a:pathLst>
                <a:path w="11837988" h="1209675">
                  <a:moveTo>
                    <a:pt x="0" y="0"/>
                  </a:moveTo>
                  <a:lnTo>
                    <a:pt x="11837988" y="0"/>
                  </a:lnTo>
                  <a:lnTo>
                    <a:pt x="11837988" y="1209675"/>
                  </a:lnTo>
                  <a:lnTo>
                    <a:pt x="0" y="1209675"/>
                  </a:lnTo>
                  <a:close/>
                </a:path>
              </a:pathLst>
            </a:custGeom>
            <a:solidFill>
              <a:srgbClr val="000000">
                <a:alpha val="0"/>
              </a:srgbClr>
            </a:solidFill>
          </p:spPr>
        </p:sp>
        <p:sp>
          <p:nvSpPr>
            <p:cNvPr id="28" name="TextBox 28"/>
            <p:cNvSpPr txBox="1"/>
            <p:nvPr/>
          </p:nvSpPr>
          <p:spPr>
            <a:xfrm>
              <a:off x="0" y="-95250"/>
              <a:ext cx="11837988" cy="1304925"/>
            </a:xfrm>
            <a:prstGeom prst="rect">
              <a:avLst/>
            </a:prstGeom>
          </p:spPr>
          <p:txBody>
            <a:bodyPr lIns="0" tIns="0" rIns="0" bIns="0" rtlCol="0" anchor="t"/>
            <a:lstStyle/>
            <a:p>
              <a:pPr algn="l">
                <a:lnSpc>
                  <a:spcPts val="3562"/>
                </a:lnSpc>
              </a:pPr>
              <a:r>
                <a:rPr lang="en-US" sz="2187" spc="-32">
                  <a:solidFill>
                    <a:srgbClr val="E9EAE0"/>
                  </a:solidFill>
                  <a:latin typeface="Gotham"/>
                  <a:ea typeface="Gotham"/>
                  <a:cs typeface="Gotham"/>
                  <a:sym typeface="Gotham"/>
                </a:rPr>
                <a:t>Add notification capabilities for predicted failures, enabling proactive intervention and minimizing downtime.</a:t>
              </a:r>
            </a:p>
          </p:txBody>
        </p:sp>
      </p:grpSp>
      <p:sp>
        <p:nvSpPr>
          <p:cNvPr id="29" name="Freeform 29"/>
          <p:cNvSpPr/>
          <p:nvPr/>
        </p:nvSpPr>
        <p:spPr>
          <a:xfrm>
            <a:off x="11476138" y="2871334"/>
            <a:ext cx="5964026" cy="3749881"/>
          </a:xfrm>
          <a:custGeom>
            <a:avLst/>
            <a:gdLst/>
            <a:ahLst/>
            <a:cxnLst/>
            <a:rect l="l" t="t" r="r" b="b"/>
            <a:pathLst>
              <a:path w="5964026" h="3749881">
                <a:moveTo>
                  <a:pt x="0" y="0"/>
                </a:moveTo>
                <a:lnTo>
                  <a:pt x="5964025" y="0"/>
                </a:lnTo>
                <a:lnTo>
                  <a:pt x="5964025" y="3749881"/>
                </a:lnTo>
                <a:lnTo>
                  <a:pt x="0" y="3749881"/>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1061</Words>
  <Application>Microsoft Office PowerPoint</Application>
  <PresentationFormat>Custom</PresentationFormat>
  <Paragraphs>108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Canva Sans Bold</vt:lpstr>
      <vt:lpstr>Gotham Bold</vt:lpstr>
      <vt:lpstr>Calibri</vt:lpstr>
      <vt:lpstr>Times New Roman Condensed Italics</vt:lpstr>
      <vt:lpstr>Gotham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Kubernetes Failure Prediction Application</dc:title>
  <dc:creator>Harish Sekar</dc:creator>
  <cp:lastModifiedBy>Harish Sekar</cp:lastModifiedBy>
  <cp:revision>2</cp:revision>
  <dcterms:created xsi:type="dcterms:W3CDTF">2006-08-16T00:00:00Z</dcterms:created>
  <dcterms:modified xsi:type="dcterms:W3CDTF">2025-03-23T17:06:18Z</dcterms:modified>
  <dc:identifier>DAGikIk9-qk</dc:identifier>
</cp:coreProperties>
</file>